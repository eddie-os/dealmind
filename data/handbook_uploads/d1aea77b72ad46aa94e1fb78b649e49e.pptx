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4" r:id="rId2"/>
    <p:sldId id="275" r:id="rId3"/>
    <p:sldId id="276" r:id="rId4"/>
    <p:sldId id="277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143" userDrawn="1">
          <p15:clr>
            <a:srgbClr val="A4A3A4"/>
          </p15:clr>
        </p15:guide>
        <p15:guide id="3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714F"/>
    <a:srgbClr val="BCD4B3"/>
    <a:srgbClr val="94B190"/>
    <a:srgbClr val="DDC7EA"/>
    <a:srgbClr val="352F33"/>
    <a:srgbClr val="EBE9EE"/>
    <a:srgbClr val="6D6E73"/>
    <a:srgbClr val="161A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89362" autoAdjust="0"/>
  </p:normalViewPr>
  <p:slideViewPr>
    <p:cSldViewPr snapToGrid="0" showGuides="1">
      <p:cViewPr>
        <p:scale>
          <a:sx n="150" d="100"/>
          <a:sy n="150" d="100"/>
        </p:scale>
        <p:origin x="954" y="-4704"/>
      </p:cViewPr>
      <p:guideLst>
        <p:guide orient="horz" pos="3143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FB3B4-2629-41BA-85E2-EACD31C6B688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CA6FA-59BC-4907-A68E-B4B687948EA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8687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图片改成</a:t>
            </a:r>
            <a:r>
              <a:rPr lang="en-US" altLang="zh-CN" dirty="0"/>
              <a:t>PNG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CA6FA-59BC-4907-A68E-B4B687948EA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0060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ACA6FA-59BC-4907-A68E-B4B687948EA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3226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105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47526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889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2846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5237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2376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3693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25061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l-PL"/>
              <a:t>Kliknij ikonę, aby dodać obraz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5816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1503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4702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AA5B1-2EF2-43DE-936C-AB05EDC8EFE3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65A9D-34F1-454A-8E9F-E106502FB668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6327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microsoft.com/office/2007/relationships/hdphoto" Target="../media/hdphoto1.wdp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组合 58">
            <a:extLst>
              <a:ext uri="{FF2B5EF4-FFF2-40B4-BE49-F238E27FC236}">
                <a16:creationId xmlns:a16="http://schemas.microsoft.com/office/drawing/2014/main" id="{605CB486-C0DC-4984-AF41-2808C5CBA74C}"/>
              </a:ext>
            </a:extLst>
          </p:cNvPr>
          <p:cNvGrpSpPr/>
          <p:nvPr/>
        </p:nvGrpSpPr>
        <p:grpSpPr>
          <a:xfrm>
            <a:off x="140524" y="2459624"/>
            <a:ext cx="6565232" cy="7126722"/>
            <a:chOff x="689" y="3713"/>
            <a:chExt cx="13957" cy="17316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37682DD1-7831-4073-B77D-820F0F9CACC8}"/>
                </a:ext>
              </a:extLst>
            </p:cNvPr>
            <p:cNvGrpSpPr/>
            <p:nvPr/>
          </p:nvGrpSpPr>
          <p:grpSpPr>
            <a:xfrm>
              <a:off x="689" y="4168"/>
              <a:ext cx="13957" cy="16861"/>
              <a:chOff x="13588" y="4217"/>
              <a:chExt cx="7461" cy="25075"/>
            </a:xfrm>
          </p:grpSpPr>
          <p:sp>
            <p:nvSpPr>
              <p:cNvPr id="62" name="矩形: 圆角 43">
                <a:extLst>
                  <a:ext uri="{FF2B5EF4-FFF2-40B4-BE49-F238E27FC236}">
                    <a16:creationId xmlns:a16="http://schemas.microsoft.com/office/drawing/2014/main" id="{05E86DF5-9F36-48D7-9897-668A68F64E9E}"/>
                  </a:ext>
                </a:extLst>
              </p:cNvPr>
              <p:cNvSpPr/>
              <p:nvPr/>
            </p:nvSpPr>
            <p:spPr>
              <a:xfrm>
                <a:off x="13588" y="4317"/>
                <a:ext cx="7461" cy="24975"/>
              </a:xfrm>
              <a:prstGeom prst="roundRect">
                <a:avLst>
                  <a:gd name="adj" fmla="val 1395"/>
                </a:avLst>
              </a:prstGeom>
              <a:solidFill>
                <a:srgbClr val="BCD4B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381000" dist="127000" dir="5400000" algn="t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pPr algn="ctr" defTabSz="874679">
                  <a:defRPr/>
                </a:pPr>
                <a:endParaRPr lang="zh-CN" altLang="en-US" sz="1340" kern="0" dirty="0">
                  <a:solidFill>
                    <a:prstClr val="white"/>
                  </a:solidFill>
                  <a:latin typeface="OPPOSans M"/>
                  <a:ea typeface="OPPOSans M"/>
                </a:endParaRPr>
              </a:p>
            </p:txBody>
          </p:sp>
          <p:sp>
            <p:nvSpPr>
              <p:cNvPr id="64" name="矩形: 圆角 44">
                <a:extLst>
                  <a:ext uri="{FF2B5EF4-FFF2-40B4-BE49-F238E27FC236}">
                    <a16:creationId xmlns:a16="http://schemas.microsoft.com/office/drawing/2014/main" id="{75ED1DBE-3C62-45B3-B79A-E24751E656D4}"/>
                  </a:ext>
                </a:extLst>
              </p:cNvPr>
              <p:cNvSpPr/>
              <p:nvPr/>
            </p:nvSpPr>
            <p:spPr>
              <a:xfrm>
                <a:off x="13700" y="4217"/>
                <a:ext cx="7292" cy="24707"/>
              </a:xfrm>
              <a:prstGeom prst="roundRect">
                <a:avLst>
                  <a:gd name="adj" fmla="val 918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13500000" algn="br" rotWithShape="0">
                  <a:prstClr val="black">
                    <a:alpha val="13000"/>
                  </a:prstClr>
                </a:outerShdw>
              </a:effectLst>
            </p:spPr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en-US" altLang="zh-CN" sz="1722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1" name="圆角矩形 7">
              <a:extLst>
                <a:ext uri="{FF2B5EF4-FFF2-40B4-BE49-F238E27FC236}">
                  <a16:creationId xmlns:a16="http://schemas.microsoft.com/office/drawing/2014/main" id="{3FC4E50E-6EF1-4DE8-899B-49417181847E}"/>
                </a:ext>
              </a:extLst>
            </p:cNvPr>
            <p:cNvSpPr/>
            <p:nvPr/>
          </p:nvSpPr>
          <p:spPr>
            <a:xfrm>
              <a:off x="4341" y="3713"/>
              <a:ext cx="6489" cy="761"/>
            </a:xfrm>
            <a:prstGeom prst="roundRect">
              <a:avLst/>
            </a:prstGeom>
            <a:solidFill>
              <a:srgbClr val="BCD4B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altLang="zh-CN" sz="1600" b="1" dirty="0">
                  <a:solidFill>
                    <a:srgbClr val="5371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Key Selling Points</a:t>
              </a: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BE879DB3-6A1E-4639-85E3-7C80750DB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059" y="4819489"/>
            <a:ext cx="2110518" cy="2067253"/>
          </a:xfrm>
          <a:prstGeom prst="rect">
            <a:avLst/>
          </a:prstGeom>
        </p:spPr>
      </p:pic>
      <p:grpSp>
        <p:nvGrpSpPr>
          <p:cNvPr id="50" name="组合 49">
            <a:extLst>
              <a:ext uri="{FF2B5EF4-FFF2-40B4-BE49-F238E27FC236}">
                <a16:creationId xmlns:a16="http://schemas.microsoft.com/office/drawing/2014/main" id="{C2F412B3-28E9-4E6A-BA89-9805B93093D5}"/>
              </a:ext>
            </a:extLst>
          </p:cNvPr>
          <p:cNvGrpSpPr/>
          <p:nvPr/>
        </p:nvGrpSpPr>
        <p:grpSpPr>
          <a:xfrm>
            <a:off x="152181" y="1238631"/>
            <a:ext cx="6565232" cy="1059268"/>
            <a:chOff x="689" y="3713"/>
            <a:chExt cx="13957" cy="2239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390FD43C-9911-4B9C-AF3B-4B4EF9CB3EFC}"/>
                </a:ext>
              </a:extLst>
            </p:cNvPr>
            <p:cNvGrpSpPr/>
            <p:nvPr/>
          </p:nvGrpSpPr>
          <p:grpSpPr>
            <a:xfrm>
              <a:off x="689" y="4168"/>
              <a:ext cx="13957" cy="1784"/>
              <a:chOff x="13588" y="4217"/>
              <a:chExt cx="7461" cy="2653"/>
            </a:xfrm>
          </p:grpSpPr>
          <p:sp>
            <p:nvSpPr>
              <p:cNvPr id="55" name="矩形: 圆角 43">
                <a:extLst>
                  <a:ext uri="{FF2B5EF4-FFF2-40B4-BE49-F238E27FC236}">
                    <a16:creationId xmlns:a16="http://schemas.microsoft.com/office/drawing/2014/main" id="{0A4E9EFC-AF3B-4D12-AA7D-686D476E579B}"/>
                  </a:ext>
                </a:extLst>
              </p:cNvPr>
              <p:cNvSpPr/>
              <p:nvPr/>
            </p:nvSpPr>
            <p:spPr>
              <a:xfrm>
                <a:off x="13588" y="4317"/>
                <a:ext cx="7461" cy="2553"/>
              </a:xfrm>
              <a:prstGeom prst="roundRect">
                <a:avLst>
                  <a:gd name="adj" fmla="val 2568"/>
                </a:avLst>
              </a:prstGeom>
              <a:solidFill>
                <a:srgbClr val="BCD4B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381000" dist="127000" dir="5400000" algn="t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pPr algn="ctr" defTabSz="874679">
                  <a:defRPr/>
                </a:pPr>
                <a:endParaRPr lang="zh-CN" altLang="en-US" sz="1340" kern="0" dirty="0">
                  <a:solidFill>
                    <a:prstClr val="white"/>
                  </a:solidFill>
                  <a:latin typeface="OPPOSans M"/>
                  <a:ea typeface="OPPOSans M"/>
                </a:endParaRPr>
              </a:p>
            </p:txBody>
          </p:sp>
          <p:sp>
            <p:nvSpPr>
              <p:cNvPr id="57" name="矩形: 圆角 44">
                <a:extLst>
                  <a:ext uri="{FF2B5EF4-FFF2-40B4-BE49-F238E27FC236}">
                    <a16:creationId xmlns:a16="http://schemas.microsoft.com/office/drawing/2014/main" id="{827760CD-5076-417B-9A5F-7E1E17E8A82A}"/>
                  </a:ext>
                </a:extLst>
              </p:cNvPr>
              <p:cNvSpPr/>
              <p:nvPr/>
            </p:nvSpPr>
            <p:spPr>
              <a:xfrm>
                <a:off x="13700" y="4217"/>
                <a:ext cx="7292" cy="2394"/>
              </a:xfrm>
              <a:prstGeom prst="roundRect">
                <a:avLst>
                  <a:gd name="adj" fmla="val 2568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13500000" algn="br" rotWithShape="0">
                  <a:prstClr val="black">
                    <a:alpha val="13000"/>
                  </a:prstClr>
                </a:outerShdw>
              </a:effectLst>
            </p:spPr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en-US" altLang="zh-CN" sz="1722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4" name="圆角矩形 7">
              <a:extLst>
                <a:ext uri="{FF2B5EF4-FFF2-40B4-BE49-F238E27FC236}">
                  <a16:creationId xmlns:a16="http://schemas.microsoft.com/office/drawing/2014/main" id="{D413F3D7-FF1D-48AC-A1A6-3AB2BC8A52B8}"/>
                </a:ext>
              </a:extLst>
            </p:cNvPr>
            <p:cNvSpPr/>
            <p:nvPr/>
          </p:nvSpPr>
          <p:spPr>
            <a:xfrm>
              <a:off x="4341" y="3713"/>
              <a:ext cx="6489" cy="761"/>
            </a:xfrm>
            <a:prstGeom prst="roundRect">
              <a:avLst/>
            </a:prstGeom>
            <a:solidFill>
              <a:srgbClr val="BCD4B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b="1" dirty="0">
                  <a:solidFill>
                    <a:srgbClr val="5371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One </a:t>
              </a:r>
              <a:r>
                <a:rPr lang="en-GB" altLang="zh-CN" sz="1600" b="1" dirty="0">
                  <a:solidFill>
                    <a:srgbClr val="5371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Sentence Introduction</a:t>
              </a:r>
            </a:p>
          </p:txBody>
        </p:sp>
      </p:grpSp>
      <p:sp>
        <p:nvSpPr>
          <p:cNvPr id="40" name="pole tekstowe 5">
            <a:extLst>
              <a:ext uri="{FF2B5EF4-FFF2-40B4-BE49-F238E27FC236}">
                <a16:creationId xmlns:a16="http://schemas.microsoft.com/office/drawing/2014/main" id="{40D7948C-17B0-4FB7-B196-4FDF3139D5F8}"/>
              </a:ext>
            </a:extLst>
          </p:cNvPr>
          <p:cNvSpPr txBox="1"/>
          <p:nvPr/>
        </p:nvSpPr>
        <p:spPr>
          <a:xfrm>
            <a:off x="4425281" y="-102921"/>
            <a:ext cx="23359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8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uawei Sans" panose="020C0503030203020204" pitchFamily="34" charset="0"/>
              </a:rPr>
              <a:t>SAY</a:t>
            </a: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4E52943-09D7-4AF8-B330-836B525D6A5E}"/>
              </a:ext>
            </a:extLst>
          </p:cNvPr>
          <p:cNvSpPr txBox="1"/>
          <p:nvPr/>
        </p:nvSpPr>
        <p:spPr>
          <a:xfrm>
            <a:off x="1730208" y="607176"/>
            <a:ext cx="3709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latin typeface="微软雅黑" panose="020B0503020204020204" pitchFamily="34" charset="-122"/>
                <a:ea typeface="微软雅黑" panose="020B0503020204020204" pitchFamily="34" charset="-122"/>
                <a:cs typeface="Huawei Sans" panose="020C0503030203020204" pitchFamily="34" charset="0"/>
                <a:sym typeface="Huawei Sans" panose="020C0503030203020204" pitchFamily="34" charset="0"/>
              </a:rPr>
              <a:t>IN-STORE TRAINING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8B70FEC-7554-4834-B393-EF599E6CED69}"/>
              </a:ext>
            </a:extLst>
          </p:cNvPr>
          <p:cNvSpPr/>
          <p:nvPr/>
        </p:nvSpPr>
        <p:spPr>
          <a:xfrm>
            <a:off x="58473" y="9668743"/>
            <a:ext cx="6658763" cy="2187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 Material is for Internal Use Only and should not be used for Media Presentations or, Consumer Training without prior written consent 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18D9D6B-D51E-49C9-B872-92D738DB406A}"/>
              </a:ext>
            </a:extLst>
          </p:cNvPr>
          <p:cNvSpPr/>
          <p:nvPr/>
        </p:nvSpPr>
        <p:spPr>
          <a:xfrm>
            <a:off x="1730208" y="188795"/>
            <a:ext cx="47214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t">
              <a:buClrTx/>
              <a:buSzTx/>
              <a:buNone/>
            </a:pPr>
            <a:r>
              <a:rPr lang="en-GB" altLang="zh-CN" sz="2000" b="1" dirty="0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HUAWEI </a:t>
            </a:r>
            <a:r>
              <a:rPr lang="en-GB" altLang="zh-CN" sz="2000" b="1" dirty="0" err="1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MatePad</a:t>
            </a:r>
            <a:r>
              <a:rPr lang="en-GB" altLang="zh-CN" sz="2000" b="1" dirty="0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 12 X 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184BB7-A99C-48DD-BFF6-7E0F4A52F337}"/>
              </a:ext>
            </a:extLst>
          </p:cNvPr>
          <p:cNvSpPr txBox="1"/>
          <p:nvPr/>
        </p:nvSpPr>
        <p:spPr>
          <a:xfrm>
            <a:off x="344746" y="1619799"/>
            <a:ext cx="641652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HUAWEI </a:t>
            </a:r>
            <a:r>
              <a:rPr lang="en-US" altLang="zh-CN" sz="10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MatePad</a:t>
            </a: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12 X is a productivity-oriented tablet designed for younger. </a:t>
            </a:r>
            <a:r>
              <a:rPr lang="en-US" altLang="zh-CN" sz="10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It is fashion and lightweight, and comes with the ultra-clear </a:t>
            </a:r>
            <a:r>
              <a:rPr lang="en-US" altLang="zh-CN" sz="1000" b="0" u="none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PaperMatte</a:t>
            </a:r>
            <a:r>
              <a:rPr lang="en-US" altLang="zh-CN" sz="10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display, professional M-Pencil Pro, and </a:t>
            </a: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flagship-level performance </a:t>
            </a:r>
            <a:r>
              <a:rPr lang="en-US" altLang="zh-CN" sz="10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to boost your </a:t>
            </a:r>
            <a:r>
              <a:rPr lang="en-US" altLang="zh-CN" sz="1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productivity</a:t>
            </a:r>
            <a:r>
              <a:rPr lang="en-US" altLang="zh-CN" sz="1000" b="0" u="none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 Please have a try!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051296-5ABA-43BF-B813-F7C2633A8F0C}"/>
              </a:ext>
            </a:extLst>
          </p:cNvPr>
          <p:cNvSpPr txBox="1"/>
          <p:nvPr/>
        </p:nvSpPr>
        <p:spPr>
          <a:xfrm>
            <a:off x="292357" y="7133657"/>
            <a:ext cx="4029878" cy="1318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727077" hangingPunct="0">
              <a:lnSpc>
                <a:spcPct val="140000"/>
              </a:lnSpc>
              <a:defRPr/>
            </a:pP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With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MatePad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12 X and its ultra-light keyboard—the thinnest and lightest in its class—plus exclusive PC-level WPS and the HUAWEI Mouse, you can finally leave the bulky laptop and charger behind on business trips and travel light.</a:t>
            </a:r>
          </a:p>
          <a:p>
            <a:pPr algn="r" defTabSz="727077" hangingPunct="0">
              <a:lnSpc>
                <a:spcPct val="140000"/>
              </a:lnSpc>
              <a:defRPr/>
            </a:pPr>
            <a:r>
              <a:rPr lang="en-US" altLang="zh-CN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*Recommended to say with Demo 4</a:t>
            </a:r>
            <a:endParaRPr lang="en-US" altLang="zh-CN" sz="105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727077" hangingPunct="0">
              <a:lnSpc>
                <a:spcPct val="140000"/>
              </a:lnSpc>
              <a:defRPr/>
            </a:pPr>
            <a:endParaRPr kumimoji="1" lang="en-US" altLang="zh-CN" sz="1000" dirty="0">
              <a:solidFill>
                <a:srgbClr val="000000"/>
              </a:solidFill>
              <a:highlight>
                <a:srgbClr val="FFFF00"/>
              </a:highligh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EFEACA5-2A3C-4A68-9103-13FDA3112BE1}"/>
              </a:ext>
            </a:extLst>
          </p:cNvPr>
          <p:cNvSpPr/>
          <p:nvPr/>
        </p:nvSpPr>
        <p:spPr>
          <a:xfrm>
            <a:off x="204609" y="2853599"/>
            <a:ext cx="6398356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27077" hangingPunct="0">
              <a:lnSpc>
                <a:spcPct val="150000"/>
              </a:lnSpc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Ultra-clear </a:t>
            </a:r>
            <a:r>
              <a:rPr lang="en-US" altLang="zh-CN" sz="1200" b="1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PaperMatte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Display that enhance eye comfort and clear images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E9A31C4-7B24-4404-BB66-F9A71F063973}"/>
              </a:ext>
            </a:extLst>
          </p:cNvPr>
          <p:cNvSpPr/>
          <p:nvPr/>
        </p:nvSpPr>
        <p:spPr>
          <a:xfrm>
            <a:off x="255034" y="3229083"/>
            <a:ext cx="3965421" cy="14371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727077" hangingPunct="0">
              <a:lnSpc>
                <a:spcPct val="130000"/>
              </a:lnSpc>
              <a:defRPr/>
            </a:pP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With our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PaperMatte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Display, you get ultra-clear, glare-free viewing in any light. Whether you’re by a sunlit plane window or relaxing on the sofa under a bright lamp, reflections won’t get in the way. </a:t>
            </a:r>
          </a:p>
          <a:p>
            <a:pPr lvl="0" algn="just" defTabSz="727077" hangingPunct="0">
              <a:lnSpc>
                <a:spcPct val="130000"/>
              </a:lnSpc>
              <a:defRPr/>
            </a:pP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It also reduces screen sparkle by 50%, keeping your eyes comfortable while still delivering a full UHD experience.</a:t>
            </a:r>
          </a:p>
          <a:p>
            <a:pPr lvl="0" algn="r" defTabSz="727077" hangingPunct="0">
              <a:lnSpc>
                <a:spcPct val="130000"/>
              </a:lnSpc>
              <a:defRPr/>
            </a:pPr>
            <a:r>
              <a:rPr lang="en-US" altLang="zh-CN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*Recommended to say with Demo 2</a:t>
            </a:r>
            <a:endParaRPr lang="en-US" altLang="zh-CN" sz="105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70B2090-518F-4C90-B8D1-8B8A5A2AB86E}"/>
              </a:ext>
            </a:extLst>
          </p:cNvPr>
          <p:cNvSpPr/>
          <p:nvPr/>
        </p:nvSpPr>
        <p:spPr>
          <a:xfrm>
            <a:off x="218099" y="4842686"/>
            <a:ext cx="6437500" cy="336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727077" hangingPunct="0">
              <a:lnSpc>
                <a:spcPct val="150000"/>
              </a:lnSpc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Professional Stroke &amp; Considerate Stylus Controlling</a:t>
            </a:r>
            <a:endParaRPr kumimoji="1" lang="en-US" altLang="zh-CN" sz="12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2A6786B-EE72-4871-AFD5-4FFEC375C597}"/>
              </a:ext>
            </a:extLst>
          </p:cNvPr>
          <p:cNvSpPr/>
          <p:nvPr/>
        </p:nvSpPr>
        <p:spPr>
          <a:xfrm>
            <a:off x="292357" y="5152745"/>
            <a:ext cx="4298693" cy="1637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727077" hangingPunct="0">
              <a:lnSpc>
                <a:spcPct val="130000"/>
              </a:lnSpc>
              <a:defRPr/>
            </a:pP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Our all-new M-Pencil Pro comes with three pen tips,</a:t>
            </a:r>
            <a:r>
              <a:rPr kumimoji="1" lang="zh-CN" altLang="en-US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including a carbon fiber one that feels just like a real pencil. Paired with the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PaperMatte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Display, it delivers an authentic pencil-on-paper writing experience. </a:t>
            </a:r>
          </a:p>
          <a:p>
            <a:pPr lvl="0" algn="just" defTabSz="727077" hangingPunct="0">
              <a:lnSpc>
                <a:spcPct val="130000"/>
              </a:lnSpc>
              <a:defRPr/>
            </a:pP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It also has smart interactions: pinch to open menus in HUAWEI Notes or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GoPaint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and tap the tail button once to launch your favorite app instantly.</a:t>
            </a:r>
          </a:p>
          <a:p>
            <a:pPr algn="r" defTabSz="727077" hangingPunct="0">
              <a:lnSpc>
                <a:spcPct val="130000"/>
              </a:lnSpc>
              <a:defRPr/>
            </a:pPr>
            <a:r>
              <a:rPr lang="en-US" altLang="zh-CN" sz="8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*Recommended to say with Demo 3</a:t>
            </a:r>
            <a:endParaRPr lang="en-US" altLang="zh-CN" sz="105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6090BEE-4DEE-4CE5-8122-ECF99587A34C}"/>
              </a:ext>
            </a:extLst>
          </p:cNvPr>
          <p:cNvSpPr/>
          <p:nvPr/>
        </p:nvSpPr>
        <p:spPr>
          <a:xfrm>
            <a:off x="293218" y="6814441"/>
            <a:ext cx="4629187" cy="613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727077" hangingPunct="0">
              <a:lnSpc>
                <a:spcPct val="150000"/>
              </a:lnSpc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PC-level Productivity, a perfect companion on the go</a:t>
            </a:r>
          </a:p>
          <a:p>
            <a:pPr lvl="0" defTabSz="727077" hangingPunct="0">
              <a:lnSpc>
                <a:spcPct val="150000"/>
              </a:lnSpc>
              <a:defRPr/>
            </a:pP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CDF72C8-6121-4780-B1C6-24C923BBF7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4" y="-28320"/>
            <a:ext cx="1409988" cy="1409988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3C67E8BB-5F27-42D1-B4AD-7D35194CA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817" y="8446157"/>
            <a:ext cx="1845948" cy="1038346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D4AD0669-7B9D-48CA-89ED-89C035E6F067}"/>
              </a:ext>
            </a:extLst>
          </p:cNvPr>
          <p:cNvSpPr/>
          <p:nvPr/>
        </p:nvSpPr>
        <p:spPr>
          <a:xfrm>
            <a:off x="-872490" y="1137286"/>
            <a:ext cx="431165" cy="413385"/>
          </a:xfrm>
          <a:prstGeom prst="rect">
            <a:avLst/>
          </a:prstGeom>
          <a:solidFill>
            <a:srgbClr val="BCD4B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Calibri"/>
              <a:ea typeface="微软雅黑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F426C1D-5E1E-4410-A8ED-7F5C851C3873}"/>
              </a:ext>
            </a:extLst>
          </p:cNvPr>
          <p:cNvSpPr/>
          <p:nvPr/>
        </p:nvSpPr>
        <p:spPr>
          <a:xfrm>
            <a:off x="-872490" y="1739901"/>
            <a:ext cx="431165" cy="413385"/>
          </a:xfrm>
          <a:prstGeom prst="rect">
            <a:avLst/>
          </a:prstGeom>
          <a:solidFill>
            <a:srgbClr val="94B19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>
              <a:solidFill>
                <a:prstClr val="white"/>
              </a:solidFill>
              <a:latin typeface="Calibri"/>
              <a:ea typeface="微软雅黑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DB1B919-2D34-4170-A09F-814CF31A571E}"/>
              </a:ext>
            </a:extLst>
          </p:cNvPr>
          <p:cNvGrpSpPr/>
          <p:nvPr/>
        </p:nvGrpSpPr>
        <p:grpSpPr>
          <a:xfrm>
            <a:off x="344745" y="8381958"/>
            <a:ext cx="4080535" cy="1425127"/>
            <a:chOff x="292356" y="8170498"/>
            <a:chExt cx="4080535" cy="1425127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FDFAE2B-9B3B-4BEA-A972-D8273F6F0929}"/>
                </a:ext>
              </a:extLst>
            </p:cNvPr>
            <p:cNvSpPr txBox="1"/>
            <p:nvPr/>
          </p:nvSpPr>
          <p:spPr>
            <a:xfrm>
              <a:off x="292356" y="8470665"/>
              <a:ext cx="4080535" cy="715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defTabSz="727077" hangingPunct="0">
                <a:lnSpc>
                  <a:spcPct val="140000"/>
                </a:lnSpc>
                <a:defRPr/>
              </a:pPr>
              <a:r>
                <a:rPr kumimoji="1" lang="en-US" altLang="zh-CN" sz="1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The 10,100 </a:t>
              </a:r>
              <a:r>
                <a:rPr kumimoji="1" lang="en-US" altLang="zh-CN" sz="1000" dirty="0" err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mAh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battery sustains up to 14 hours of video playback. When the tablet's official 66 W </a:t>
              </a:r>
              <a:r>
                <a:rPr kumimoji="1" lang="en-US" altLang="zh-CN" sz="1000" dirty="0" err="1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SuperCharge</a:t>
              </a:r>
              <a:r>
                <a:rPr kumimoji="1" lang="en-US" altLang="zh-CN" sz="10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 charger is used, the battery rockets to 100% in less than 1.5 hours.</a:t>
              </a: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48BAD536-0D10-44EC-8771-3D7D39E515F6}"/>
                </a:ext>
              </a:extLst>
            </p:cNvPr>
            <p:cNvSpPr/>
            <p:nvPr/>
          </p:nvSpPr>
          <p:spPr>
            <a:xfrm>
              <a:off x="293218" y="8170498"/>
              <a:ext cx="3924452" cy="142512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defTabSz="727077" hangingPunct="0">
                <a:lnSpc>
                  <a:spcPct val="150000"/>
                </a:lnSpc>
                <a:defRPr/>
              </a:pPr>
              <a:r>
                <a:rPr lang="zh-CN" altLang="en-US" sz="12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④ </a:t>
              </a:r>
              <a:r>
                <a:rPr lang="en-US" altLang="zh-CN" sz="1200" b="1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Say goodbye to power anxiety</a:t>
              </a:r>
            </a:p>
            <a:p>
              <a:pPr lvl="0" defTabSz="727077" hangingPunct="0">
                <a:lnSpc>
                  <a:spcPct val="150000"/>
                </a:lnSpc>
                <a:defRPr/>
              </a:pPr>
              <a:endPara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E77230A8-D36E-41E5-A31F-92325D56DE11}"/>
              </a:ext>
            </a:extLst>
          </p:cNvPr>
          <p:cNvGrpSpPr/>
          <p:nvPr/>
        </p:nvGrpSpPr>
        <p:grpSpPr>
          <a:xfrm>
            <a:off x="4372392" y="6460555"/>
            <a:ext cx="2460345" cy="2131062"/>
            <a:chOff x="4537203" y="6805690"/>
            <a:chExt cx="1790790" cy="1551117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5B6467DA-E765-493B-8F23-71855DFCE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7203" y="6805690"/>
              <a:ext cx="1551117" cy="1551117"/>
            </a:xfrm>
            <a:prstGeom prst="rect">
              <a:avLst/>
            </a:prstGeom>
          </p:spPr>
        </p:pic>
        <p:pic>
          <p:nvPicPr>
            <p:cNvPr id="1026" name="Picture 2" descr="White">
              <a:extLst>
                <a:ext uri="{FF2B5EF4-FFF2-40B4-BE49-F238E27FC236}">
                  <a16:creationId xmlns:a16="http://schemas.microsoft.com/office/drawing/2014/main" id="{AD1C9481-3E84-4E64-AB53-85720B1CCE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3114" y="7355424"/>
              <a:ext cx="534879" cy="679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57448AFC-C20D-4746-8C11-B42D8E172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48008" y="7121027"/>
              <a:ext cx="942945" cy="632052"/>
            </a:xfrm>
            <a:prstGeom prst="rect">
              <a:avLst/>
            </a:prstGeom>
          </p:spPr>
        </p:pic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AC76911-700F-4425-9FE6-3B59830A8BD9}"/>
              </a:ext>
            </a:extLst>
          </p:cNvPr>
          <p:cNvGrpSpPr/>
          <p:nvPr/>
        </p:nvGrpSpPr>
        <p:grpSpPr>
          <a:xfrm>
            <a:off x="4207789" y="3607292"/>
            <a:ext cx="2482278" cy="967881"/>
            <a:chOff x="4110612" y="3606189"/>
            <a:chExt cx="2482278" cy="967881"/>
          </a:xfrm>
        </p:grpSpPr>
        <p:pic>
          <p:nvPicPr>
            <p:cNvPr id="87" name="图片 86">
              <a:extLst>
                <a:ext uri="{FF2B5EF4-FFF2-40B4-BE49-F238E27FC236}">
                  <a16:creationId xmlns:a16="http://schemas.microsoft.com/office/drawing/2014/main" id="{6E42EC56-D63C-42D1-A388-5C06A35F10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447" r="56533" b="76458"/>
            <a:stretch>
              <a:fillRect/>
            </a:stretch>
          </p:blipFill>
          <p:spPr>
            <a:xfrm>
              <a:off x="4110612" y="3606847"/>
              <a:ext cx="1005159" cy="619586"/>
            </a:xfrm>
            <a:prstGeom prst="rect">
              <a:avLst/>
            </a:prstGeom>
          </p:spPr>
        </p:pic>
        <p:pic>
          <p:nvPicPr>
            <p:cNvPr id="88" name="图片 87">
              <a:extLst>
                <a:ext uri="{FF2B5EF4-FFF2-40B4-BE49-F238E27FC236}">
                  <a16:creationId xmlns:a16="http://schemas.microsoft.com/office/drawing/2014/main" id="{77633A5F-E151-4555-834A-DE258B19E8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484" t="974" r="4234" b="74090"/>
            <a:stretch>
              <a:fillRect/>
            </a:stretch>
          </p:blipFill>
          <p:spPr>
            <a:xfrm>
              <a:off x="5459059" y="3606189"/>
              <a:ext cx="1031783" cy="623570"/>
            </a:xfrm>
            <a:prstGeom prst="rect">
              <a:avLst/>
            </a:prstGeom>
          </p:spPr>
        </p:pic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05FC368F-2C13-41B2-B77C-5B2D6BFD3AFE}"/>
                </a:ext>
              </a:extLst>
            </p:cNvPr>
            <p:cNvSpPr txBox="1"/>
            <p:nvPr/>
          </p:nvSpPr>
          <p:spPr>
            <a:xfrm>
              <a:off x="5044090" y="3762898"/>
              <a:ext cx="4865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>
                  <a:solidFill>
                    <a:schemeClr val="bg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VS</a:t>
              </a:r>
              <a:endParaRPr lang="zh-CN" altLang="en-US" b="1" dirty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5D953A2E-6AF4-4C6B-B076-DF73B0FB3948}"/>
                </a:ext>
              </a:extLst>
            </p:cNvPr>
            <p:cNvSpPr/>
            <p:nvPr/>
          </p:nvSpPr>
          <p:spPr>
            <a:xfrm>
              <a:off x="4115552" y="4227381"/>
              <a:ext cx="1000219" cy="21544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4400">
                <a:buClrTx/>
                <a:buSzTx/>
                <a:buFontTx/>
              </a:pPr>
              <a:r>
                <a:rPr lang="en-US" altLang="zh-CN" sz="80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Normal screen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10F8FE97-1F61-426D-823D-76A36A638E57}"/>
                </a:ext>
              </a:extLst>
            </p:cNvPr>
            <p:cNvSpPr txBox="1"/>
            <p:nvPr/>
          </p:nvSpPr>
          <p:spPr>
            <a:xfrm>
              <a:off x="5355967" y="4235516"/>
              <a:ext cx="123692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defTabSz="914400" fontAlgn="ctr">
                <a:defRPr>
                  <a:solidFill>
                    <a:prstClr val="black"/>
                  </a:solidFill>
                  <a:latin typeface="Arial" panose="020B0604020202090204" pitchFamily="34" charset="0"/>
                </a:defRPr>
              </a:lvl1pPr>
            </a:lstStyle>
            <a:p>
              <a:pPr fontAlgn="auto">
                <a:buClrTx/>
                <a:buSzTx/>
                <a:buFontTx/>
              </a:pPr>
              <a:r>
                <a:rPr lang="en-US" altLang="zh-CN" sz="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Ultra-clear </a:t>
              </a:r>
            </a:p>
            <a:p>
              <a:pPr fontAlgn="auto">
                <a:buClrTx/>
                <a:buSzTx/>
                <a:buFontTx/>
              </a:pPr>
              <a:r>
                <a:rPr lang="en-US" altLang="zh-CN" sz="80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PaperMatte</a:t>
              </a:r>
              <a:r>
                <a:rPr lang="en-US" altLang="zh-CN" sz="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Display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9201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>
            <a:extLst>
              <a:ext uri="{FF2B5EF4-FFF2-40B4-BE49-F238E27FC236}">
                <a16:creationId xmlns:a16="http://schemas.microsoft.com/office/drawing/2014/main" id="{8AEF5C96-4EC4-4F70-A0CB-B37B4F877A5F}"/>
              </a:ext>
            </a:extLst>
          </p:cNvPr>
          <p:cNvGrpSpPr/>
          <p:nvPr/>
        </p:nvGrpSpPr>
        <p:grpSpPr>
          <a:xfrm>
            <a:off x="130899" y="7727969"/>
            <a:ext cx="6565232" cy="1905393"/>
            <a:chOff x="689" y="4957"/>
            <a:chExt cx="13957" cy="6109"/>
          </a:xfrm>
        </p:grpSpPr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B9DB10E0-F65A-4C64-9EDA-705E15E6E41C}"/>
                </a:ext>
              </a:extLst>
            </p:cNvPr>
            <p:cNvGrpSpPr/>
            <p:nvPr/>
          </p:nvGrpSpPr>
          <p:grpSpPr>
            <a:xfrm>
              <a:off x="689" y="5300"/>
              <a:ext cx="13957" cy="5766"/>
              <a:chOff x="13588" y="5900"/>
              <a:chExt cx="7461" cy="8574"/>
            </a:xfrm>
          </p:grpSpPr>
          <p:sp>
            <p:nvSpPr>
              <p:cNvPr id="45" name="矩形: 圆角 43">
                <a:extLst>
                  <a:ext uri="{FF2B5EF4-FFF2-40B4-BE49-F238E27FC236}">
                    <a16:creationId xmlns:a16="http://schemas.microsoft.com/office/drawing/2014/main" id="{6CC4102B-41E4-4626-9FAB-C2E1383D6962}"/>
                  </a:ext>
                </a:extLst>
              </p:cNvPr>
              <p:cNvSpPr/>
              <p:nvPr/>
            </p:nvSpPr>
            <p:spPr>
              <a:xfrm>
                <a:off x="13588" y="5900"/>
                <a:ext cx="7461" cy="8574"/>
              </a:xfrm>
              <a:prstGeom prst="roundRect">
                <a:avLst>
                  <a:gd name="adj" fmla="val 0"/>
                </a:avLst>
              </a:prstGeom>
              <a:solidFill>
                <a:srgbClr val="BCD4B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381000" dist="127000" dir="5400000" algn="t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pPr algn="ctr" defTabSz="874679">
                  <a:defRPr/>
                </a:pPr>
                <a:endParaRPr lang="zh-CN" altLang="en-US" sz="1340" kern="0" dirty="0">
                  <a:solidFill>
                    <a:prstClr val="white"/>
                  </a:solidFill>
                  <a:latin typeface="OPPOSans M"/>
                  <a:ea typeface="OPPOSans M"/>
                </a:endParaRPr>
              </a:p>
            </p:txBody>
          </p:sp>
          <p:sp>
            <p:nvSpPr>
              <p:cNvPr id="46" name="矩形: 圆角 44">
                <a:extLst>
                  <a:ext uri="{FF2B5EF4-FFF2-40B4-BE49-F238E27FC236}">
                    <a16:creationId xmlns:a16="http://schemas.microsoft.com/office/drawing/2014/main" id="{22219D88-27E3-4E65-A807-59019EB2D055}"/>
                  </a:ext>
                </a:extLst>
              </p:cNvPr>
              <p:cNvSpPr/>
              <p:nvPr/>
            </p:nvSpPr>
            <p:spPr>
              <a:xfrm>
                <a:off x="13700" y="5991"/>
                <a:ext cx="7292" cy="8272"/>
              </a:xfrm>
              <a:prstGeom prst="roundRect">
                <a:avLst>
                  <a:gd name="adj" fmla="val 918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13500000" algn="br" rotWithShape="0">
                  <a:prstClr val="black">
                    <a:alpha val="13000"/>
                  </a:prstClr>
                </a:outerShdw>
              </a:effectLst>
            </p:spPr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en-US" altLang="zh-CN" sz="1722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4" name="圆角矩形 7">
              <a:extLst>
                <a:ext uri="{FF2B5EF4-FFF2-40B4-BE49-F238E27FC236}">
                  <a16:creationId xmlns:a16="http://schemas.microsoft.com/office/drawing/2014/main" id="{1DB4C78E-1A1E-4111-8CA5-296911F0DCC5}"/>
                </a:ext>
              </a:extLst>
            </p:cNvPr>
            <p:cNvSpPr/>
            <p:nvPr/>
          </p:nvSpPr>
          <p:spPr>
            <a:xfrm>
              <a:off x="4089" y="4957"/>
              <a:ext cx="6489" cy="761"/>
            </a:xfrm>
            <a:prstGeom prst="roundRect">
              <a:avLst/>
            </a:prstGeom>
            <a:solidFill>
              <a:srgbClr val="BCD4B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altLang="zh-CN" sz="1600" b="1" dirty="0">
                  <a:solidFill>
                    <a:srgbClr val="5371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Core Specs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D4AB6F3-585F-451E-930A-A7DDD6FA06A6}"/>
              </a:ext>
            </a:extLst>
          </p:cNvPr>
          <p:cNvGrpSpPr/>
          <p:nvPr/>
        </p:nvGrpSpPr>
        <p:grpSpPr>
          <a:xfrm>
            <a:off x="130899" y="1259286"/>
            <a:ext cx="6565232" cy="6364084"/>
            <a:chOff x="689" y="3713"/>
            <a:chExt cx="13957" cy="17316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BD974FEA-55F8-4679-9A47-B1CBBFA7B0AB}"/>
                </a:ext>
              </a:extLst>
            </p:cNvPr>
            <p:cNvGrpSpPr/>
            <p:nvPr/>
          </p:nvGrpSpPr>
          <p:grpSpPr>
            <a:xfrm>
              <a:off x="689" y="4168"/>
              <a:ext cx="13957" cy="16861"/>
              <a:chOff x="13588" y="4217"/>
              <a:chExt cx="7461" cy="25075"/>
            </a:xfrm>
          </p:grpSpPr>
          <p:sp>
            <p:nvSpPr>
              <p:cNvPr id="29" name="矩形: 圆角 43">
                <a:extLst>
                  <a:ext uri="{FF2B5EF4-FFF2-40B4-BE49-F238E27FC236}">
                    <a16:creationId xmlns:a16="http://schemas.microsoft.com/office/drawing/2014/main" id="{7E8F0457-1A7F-46F0-A9ED-5133D86AEA58}"/>
                  </a:ext>
                </a:extLst>
              </p:cNvPr>
              <p:cNvSpPr/>
              <p:nvPr/>
            </p:nvSpPr>
            <p:spPr>
              <a:xfrm>
                <a:off x="13588" y="4317"/>
                <a:ext cx="7461" cy="24975"/>
              </a:xfrm>
              <a:prstGeom prst="roundRect">
                <a:avLst>
                  <a:gd name="adj" fmla="val 1395"/>
                </a:avLst>
              </a:prstGeom>
              <a:solidFill>
                <a:srgbClr val="BCD4B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381000" dist="127000" dir="5400000" algn="t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pPr algn="ctr" defTabSz="874679">
                  <a:defRPr/>
                </a:pPr>
                <a:endParaRPr lang="zh-CN" altLang="en-US" sz="1340" kern="0" dirty="0">
                  <a:solidFill>
                    <a:prstClr val="white"/>
                  </a:solidFill>
                  <a:latin typeface="OPPOSans M"/>
                  <a:ea typeface="OPPOSans M"/>
                </a:endParaRPr>
              </a:p>
            </p:txBody>
          </p:sp>
          <p:sp>
            <p:nvSpPr>
              <p:cNvPr id="30" name="矩形: 圆角 44">
                <a:extLst>
                  <a:ext uri="{FF2B5EF4-FFF2-40B4-BE49-F238E27FC236}">
                    <a16:creationId xmlns:a16="http://schemas.microsoft.com/office/drawing/2014/main" id="{87C842B3-99D9-4B65-B908-B582AEAE5698}"/>
                  </a:ext>
                </a:extLst>
              </p:cNvPr>
              <p:cNvSpPr/>
              <p:nvPr/>
            </p:nvSpPr>
            <p:spPr>
              <a:xfrm>
                <a:off x="13700" y="4217"/>
                <a:ext cx="7292" cy="24707"/>
              </a:xfrm>
              <a:prstGeom prst="roundRect">
                <a:avLst>
                  <a:gd name="adj" fmla="val 918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13500000" algn="br" rotWithShape="0">
                  <a:prstClr val="black">
                    <a:alpha val="13000"/>
                  </a:prstClr>
                </a:outerShdw>
              </a:effectLst>
            </p:spPr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en-US" altLang="zh-CN" sz="1722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8" name="圆角矩形 7">
              <a:extLst>
                <a:ext uri="{FF2B5EF4-FFF2-40B4-BE49-F238E27FC236}">
                  <a16:creationId xmlns:a16="http://schemas.microsoft.com/office/drawing/2014/main" id="{3025544E-2F55-4532-93BC-E16AB08127BD}"/>
                </a:ext>
              </a:extLst>
            </p:cNvPr>
            <p:cNvSpPr/>
            <p:nvPr/>
          </p:nvSpPr>
          <p:spPr>
            <a:xfrm>
              <a:off x="4341" y="3713"/>
              <a:ext cx="6489" cy="761"/>
            </a:xfrm>
            <a:prstGeom prst="roundRect">
              <a:avLst/>
            </a:prstGeom>
            <a:solidFill>
              <a:srgbClr val="BCD4B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altLang="zh-CN" sz="1600" b="1" dirty="0">
                  <a:solidFill>
                    <a:srgbClr val="5371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Key Attack Points </a:t>
              </a:r>
              <a:r>
                <a:rPr lang="en-GB" altLang="zh-CN" sz="1200" dirty="0">
                  <a:solidFill>
                    <a:srgbClr val="5371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vs </a:t>
              </a:r>
              <a:r>
                <a:rPr lang="en-GB" altLang="zh-CN" sz="1200" dirty="0" err="1">
                  <a:solidFill>
                    <a:srgbClr val="5371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iPxx</a:t>
              </a:r>
              <a:r>
                <a:rPr lang="en-GB" altLang="zh-CN" sz="1200" dirty="0">
                  <a:solidFill>
                    <a:srgbClr val="5371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Air 11 </a:t>
              </a:r>
              <a:endParaRPr lang="en-GB" altLang="zh-CN" sz="1600" dirty="0">
                <a:solidFill>
                  <a:srgbClr val="53714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pole tekstowe 5">
            <a:extLst>
              <a:ext uri="{FF2B5EF4-FFF2-40B4-BE49-F238E27FC236}">
                <a16:creationId xmlns:a16="http://schemas.microsoft.com/office/drawing/2014/main" id="{D5F48120-8FE6-4F95-96E7-24A19D3C5507}"/>
              </a:ext>
            </a:extLst>
          </p:cNvPr>
          <p:cNvSpPr txBox="1"/>
          <p:nvPr/>
        </p:nvSpPr>
        <p:spPr>
          <a:xfrm>
            <a:off x="860413" y="-84931"/>
            <a:ext cx="59975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uawei Sans" panose="020C0503030203020204" pitchFamily="34" charset="0"/>
              </a:rPr>
              <a:t>COMPETE</a:t>
            </a:r>
            <a:endParaRPr lang="pl-PL" sz="8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8B70FEC-7554-4834-B393-EF599E6CED69}"/>
              </a:ext>
            </a:extLst>
          </p:cNvPr>
          <p:cNvSpPr/>
          <p:nvPr/>
        </p:nvSpPr>
        <p:spPr>
          <a:xfrm>
            <a:off x="58473" y="9668743"/>
            <a:ext cx="6658763" cy="2187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 Material is for Internal Use Only and should not be used for Media Presentations or, Consumer Training without prior written consent 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330473-4BFE-47CD-9477-0260D116B213}"/>
              </a:ext>
            </a:extLst>
          </p:cNvPr>
          <p:cNvSpPr/>
          <p:nvPr/>
        </p:nvSpPr>
        <p:spPr>
          <a:xfrm>
            <a:off x="360742" y="1654885"/>
            <a:ext cx="6232766" cy="5662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27077" hangingPunct="0">
              <a:lnSpc>
                <a:spcPct val="150000"/>
              </a:lnSpc>
              <a:defRPr/>
            </a:pP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Brighter, clearer, and more eye-comfort display: </a:t>
            </a:r>
          </a:p>
          <a:p>
            <a:pPr>
              <a:lnSpc>
                <a:spcPct val="150000"/>
              </a:lnSpc>
            </a:pP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With a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PaperMatte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Display, which you won’t find on the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iPxx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Air,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MatePad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12 X delivers crystal-clear detail without the glare. Even compared to the iPad Pro, it stands out with superior anti-glare and much less sparkle to enhance clarity, keeping your eyes comfortable for hours whether you're reading by the window or sketching ideas late at night.</a:t>
            </a:r>
          </a:p>
          <a:p>
            <a:pPr>
              <a:lnSpc>
                <a:spcPct val="150000"/>
              </a:lnSpc>
            </a:pPr>
            <a:endParaRPr kumimoji="1" lang="en-US" altLang="zh-CN" sz="1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More </a:t>
            </a:r>
            <a:r>
              <a:rPr lang="en-US" altLang="zh-CN" sz="105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professional stroke &amp; 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instant access: </a:t>
            </a:r>
          </a:p>
          <a:p>
            <a:pPr>
              <a:lnSpc>
                <a:spcPct val="150000"/>
              </a:lnSpc>
            </a:pP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Some may think the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Axx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Pencil Pro stands out with fun interactions—but the M-Pencil Pro goes further, delivering smarter instant access and professional-grade strokes. With its exclusive quick button on the tail, you can launch any app you choose in a single tap. Plus, it comes with three pen tips to fit all your creative needs. These are experiences the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Axx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simply can’t match.</a:t>
            </a:r>
          </a:p>
          <a:p>
            <a:pPr>
              <a:lnSpc>
                <a:spcPct val="150000"/>
              </a:lnSpc>
            </a:pPr>
            <a:endParaRPr kumimoji="1" lang="en-US" altLang="zh-CN" sz="1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1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05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  <a:r>
              <a:rPr lang="zh-CN" altLang="en-US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Faster charging and longer battery life: </a:t>
            </a:r>
          </a:p>
          <a:p>
            <a:pPr>
              <a:lnSpc>
                <a:spcPct val="150000"/>
              </a:lnSpc>
            </a:pP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While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iPxx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Air charges at a maximum of 20 W, taking 2.5 hours to fully charge, our tablet features 66 W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SuperCharge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fully charging in less than 1.5 hours and offering a battery life of a whole day. With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MatePad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12 X, you can work or study from dawn to dusk.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1DF9EB-CDFE-45A1-9513-73A1FFA4E010}"/>
              </a:ext>
            </a:extLst>
          </p:cNvPr>
          <p:cNvSpPr/>
          <p:nvPr/>
        </p:nvSpPr>
        <p:spPr>
          <a:xfrm>
            <a:off x="338490" y="7915411"/>
            <a:ext cx="6416522" cy="16809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1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Screen: 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1000 nits peak brightness, 2.8K resolution, 144 Hz adaptive refresh rate, and P3 wide color gamut.</a:t>
            </a:r>
          </a:p>
          <a:p>
            <a:pPr>
              <a:lnSpc>
                <a:spcPct val="150000"/>
              </a:lnSpc>
            </a:pPr>
            <a:r>
              <a:rPr kumimoji="1" lang="en-US" altLang="zh-CN" sz="1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Sound quality: 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speakers with clear high/low frequency division and HUAWEI SOUND.</a:t>
            </a:r>
          </a:p>
          <a:p>
            <a:pPr>
              <a:lnSpc>
                <a:spcPct val="150000"/>
              </a:lnSpc>
            </a:pPr>
            <a:r>
              <a:rPr kumimoji="1" lang="en-US" altLang="zh-CN" sz="1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Weight: 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555 g, thin to 5.9 mm; 863 g (with the ultra-sleek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NearLink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keyboard that weighs at 308 g)</a:t>
            </a:r>
          </a:p>
          <a:p>
            <a:pPr>
              <a:lnSpc>
                <a:spcPct val="150000"/>
              </a:lnSpc>
            </a:pPr>
            <a:r>
              <a:rPr kumimoji="1" lang="en-US" altLang="zh-CN" sz="1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Charging and battery life: 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10,100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mAh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battery, 66 W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SuperCharge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and 14 hours of local video playback.</a:t>
            </a:r>
          </a:p>
          <a:p>
            <a:pPr>
              <a:lnSpc>
                <a:spcPct val="150000"/>
              </a:lnSpc>
            </a:pPr>
            <a:r>
              <a:rPr kumimoji="1" lang="en-US" altLang="zh-CN" sz="10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System: </a:t>
            </a:r>
            <a:r>
              <a:rPr kumimoji="1" lang="en-US" altLang="zh-CN" sz="1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HarmonyOS</a:t>
            </a:r>
            <a:r>
              <a:rPr kumimoji="1" lang="en-US" altLang="zh-CN" sz="1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4.3</a:t>
            </a:r>
          </a:p>
        </p:txBody>
      </p:sp>
      <p:sp>
        <p:nvSpPr>
          <p:cNvPr id="24" name="pole tekstowe 1">
            <a:extLst>
              <a:ext uri="{FF2B5EF4-FFF2-40B4-BE49-F238E27FC236}">
                <a16:creationId xmlns:a16="http://schemas.microsoft.com/office/drawing/2014/main" id="{E583A067-69EF-48CA-8418-94D5099EFC33}"/>
              </a:ext>
            </a:extLst>
          </p:cNvPr>
          <p:cNvSpPr txBox="1"/>
          <p:nvPr/>
        </p:nvSpPr>
        <p:spPr>
          <a:xfrm>
            <a:off x="1730208" y="607176"/>
            <a:ext cx="3709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latin typeface="微软雅黑" panose="020B0503020204020204" pitchFamily="34" charset="-122"/>
                <a:ea typeface="微软雅黑" panose="020B0503020204020204" pitchFamily="34" charset="-122"/>
                <a:cs typeface="Huawei Sans" panose="020C0503030203020204" pitchFamily="34" charset="0"/>
                <a:sym typeface="Huawei Sans" panose="020C0503030203020204" pitchFamily="34" charset="0"/>
              </a:rPr>
              <a:t>IN-STORE TRAINING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FF74C658-7EF7-420F-8005-A7BBBCA3F5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4" y="-28320"/>
            <a:ext cx="1409988" cy="1409988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079AB586-6F9A-42AC-97F3-069839B3E1DF}"/>
              </a:ext>
            </a:extLst>
          </p:cNvPr>
          <p:cNvSpPr/>
          <p:nvPr/>
        </p:nvSpPr>
        <p:spPr>
          <a:xfrm>
            <a:off x="1730208" y="188795"/>
            <a:ext cx="47214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t"/>
            <a:r>
              <a:rPr lang="en-GB" altLang="zh-CN" sz="2000" b="1" dirty="0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HUAWEI </a:t>
            </a:r>
            <a:r>
              <a:rPr lang="en-GB" altLang="zh-CN" sz="2000" b="1" dirty="0" err="1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MatePad</a:t>
            </a:r>
            <a:r>
              <a:rPr lang="en-GB" altLang="zh-CN" sz="2000" b="1" dirty="0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 12 X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4E58A30-CA5E-4D4C-BC0A-CFD14F5EA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678" y="2898499"/>
            <a:ext cx="2316586" cy="10570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4514EBC-A79F-47F6-AAD8-442E7F471F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200" y="2682047"/>
            <a:ext cx="1854724" cy="1128398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347ABF1C-A6BA-4381-B99D-41E9AC2691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79" y="5271737"/>
            <a:ext cx="1678797" cy="944763"/>
          </a:xfrm>
          <a:prstGeom prst="roundRect">
            <a:avLst>
              <a:gd name="adj" fmla="val 11508"/>
            </a:avLst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DB8CE49-EC3F-45E7-9BE7-3F79CB5408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8057" y="5051883"/>
            <a:ext cx="1529055" cy="1164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438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>
            <a:extLst>
              <a:ext uri="{FF2B5EF4-FFF2-40B4-BE49-F238E27FC236}">
                <a16:creationId xmlns:a16="http://schemas.microsoft.com/office/drawing/2014/main" id="{887881CB-C427-4455-86C5-BE489B1BEB35}"/>
              </a:ext>
            </a:extLst>
          </p:cNvPr>
          <p:cNvGrpSpPr/>
          <p:nvPr/>
        </p:nvGrpSpPr>
        <p:grpSpPr>
          <a:xfrm>
            <a:off x="105238" y="1118161"/>
            <a:ext cx="6565232" cy="8421895"/>
            <a:chOff x="689" y="3494"/>
            <a:chExt cx="13957" cy="17319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EE2692D-967D-4250-A612-995A03ED39D6}"/>
                </a:ext>
              </a:extLst>
            </p:cNvPr>
            <p:cNvGrpSpPr/>
            <p:nvPr/>
          </p:nvGrpSpPr>
          <p:grpSpPr>
            <a:xfrm>
              <a:off x="689" y="3994"/>
              <a:ext cx="13957" cy="16819"/>
              <a:chOff x="13588" y="3959"/>
              <a:chExt cx="7461" cy="25013"/>
            </a:xfrm>
          </p:grpSpPr>
          <p:sp>
            <p:nvSpPr>
              <p:cNvPr id="21" name="矩形: 圆角 43">
                <a:extLst>
                  <a:ext uri="{FF2B5EF4-FFF2-40B4-BE49-F238E27FC236}">
                    <a16:creationId xmlns:a16="http://schemas.microsoft.com/office/drawing/2014/main" id="{67D1279D-508E-4ABC-A581-C2CFDAD6A9C0}"/>
                  </a:ext>
                </a:extLst>
              </p:cNvPr>
              <p:cNvSpPr/>
              <p:nvPr/>
            </p:nvSpPr>
            <p:spPr>
              <a:xfrm>
                <a:off x="13588" y="3997"/>
                <a:ext cx="7461" cy="24975"/>
              </a:xfrm>
              <a:prstGeom prst="roundRect">
                <a:avLst>
                  <a:gd name="adj" fmla="val 1395"/>
                </a:avLst>
              </a:prstGeom>
              <a:solidFill>
                <a:srgbClr val="BCD4B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381000" dist="127000" dir="5400000" algn="t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pPr algn="ctr" defTabSz="874679">
                  <a:defRPr/>
                </a:pPr>
                <a:endParaRPr lang="zh-CN" altLang="en-US" sz="1340" kern="0" dirty="0">
                  <a:solidFill>
                    <a:prstClr val="white"/>
                  </a:solidFill>
                  <a:latin typeface="OPPOSans M"/>
                  <a:ea typeface="OPPOSans M"/>
                </a:endParaRPr>
              </a:p>
            </p:txBody>
          </p:sp>
          <p:sp>
            <p:nvSpPr>
              <p:cNvPr id="22" name="矩形: 圆角 44">
                <a:extLst>
                  <a:ext uri="{FF2B5EF4-FFF2-40B4-BE49-F238E27FC236}">
                    <a16:creationId xmlns:a16="http://schemas.microsoft.com/office/drawing/2014/main" id="{48FA588A-FB82-4AE3-9A45-153128033CB9}"/>
                  </a:ext>
                </a:extLst>
              </p:cNvPr>
              <p:cNvSpPr/>
              <p:nvPr/>
            </p:nvSpPr>
            <p:spPr>
              <a:xfrm>
                <a:off x="13675" y="3959"/>
                <a:ext cx="7292" cy="24707"/>
              </a:xfrm>
              <a:prstGeom prst="roundRect">
                <a:avLst>
                  <a:gd name="adj" fmla="val 918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13500000" algn="br" rotWithShape="0">
                  <a:prstClr val="black">
                    <a:alpha val="13000"/>
                  </a:prstClr>
                </a:outerShdw>
              </a:effectLst>
            </p:spPr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en-US" altLang="zh-CN" sz="1722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0" name="圆角矩形 7">
              <a:extLst>
                <a:ext uri="{FF2B5EF4-FFF2-40B4-BE49-F238E27FC236}">
                  <a16:creationId xmlns:a16="http://schemas.microsoft.com/office/drawing/2014/main" id="{B814B7E8-AE8D-4459-BE10-FE7306670700}"/>
                </a:ext>
              </a:extLst>
            </p:cNvPr>
            <p:cNvSpPr/>
            <p:nvPr/>
          </p:nvSpPr>
          <p:spPr>
            <a:xfrm>
              <a:off x="4144" y="3494"/>
              <a:ext cx="6884" cy="727"/>
            </a:xfrm>
            <a:prstGeom prst="roundRect">
              <a:avLst/>
            </a:prstGeom>
            <a:solidFill>
              <a:srgbClr val="BCD4B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altLang="zh-CN" sz="1600" b="1" dirty="0">
                  <a:solidFill>
                    <a:srgbClr val="5371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Frequently Asked Questions</a:t>
              </a:r>
            </a:p>
          </p:txBody>
        </p: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B8B70FEC-7554-4834-B393-EF599E6CED69}"/>
              </a:ext>
            </a:extLst>
          </p:cNvPr>
          <p:cNvSpPr/>
          <p:nvPr/>
        </p:nvSpPr>
        <p:spPr>
          <a:xfrm>
            <a:off x="58473" y="9668743"/>
            <a:ext cx="6658763" cy="2187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 Material is for Internal Use Only and should not be used for Media Presentations or, Consumer Training without prior written consent 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261F1D5-D9F4-4522-B2B6-C039F508FDB3}"/>
              </a:ext>
            </a:extLst>
          </p:cNvPr>
          <p:cNvSpPr/>
          <p:nvPr/>
        </p:nvSpPr>
        <p:spPr>
          <a:xfrm>
            <a:off x="189834" y="1498286"/>
            <a:ext cx="6452055" cy="798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What’s the difference between the new </a:t>
            </a:r>
            <a:r>
              <a:rPr lang="en-US" altLang="zh-CN" sz="1100" b="1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MatePad</a:t>
            </a:r>
            <a:r>
              <a:rPr lang="en-US" altLang="zh-CN" sz="1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 X 2025 and the previous generation?</a:t>
            </a:r>
          </a:p>
          <a:p>
            <a:pPr marL="180000">
              <a:lnSpc>
                <a:spcPct val="150000"/>
              </a:lnSpc>
            </a:pP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</a:t>
            </a:r>
            <a:r>
              <a:rPr lang="en-US" altLang="zh-CN" sz="1100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MatePad</a:t>
            </a: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 X 2025 brings major upgrades in display, performance, and connectivity. It now features an ultra-clear </a:t>
            </a:r>
            <a:r>
              <a:rPr lang="en-US" altLang="zh-CN" sz="1100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PaperMatte</a:t>
            </a: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Display that’s both eye-friendly and clear; performance has been boosted by 27% with flagship-level performance; and Wi-Fi has been upgraded from Wi-Fi 6 to Wi-Fi 7 for a faster, more stable connection.</a:t>
            </a:r>
          </a:p>
          <a:p>
            <a:pPr marL="180000">
              <a:lnSpc>
                <a:spcPct val="150000"/>
              </a:lnSpc>
            </a:pPr>
            <a:endParaRPr lang="en-US" altLang="zh-CN" sz="800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Should I choose the standard display or the </a:t>
            </a:r>
            <a:r>
              <a:rPr lang="en-US" altLang="zh-CN" sz="1100" b="1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PaperMatte</a:t>
            </a:r>
            <a:r>
              <a:rPr lang="en-US" altLang="zh-CN" sz="1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display on </a:t>
            </a:r>
            <a:r>
              <a:rPr lang="en-US" altLang="zh-CN" sz="1100" b="1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MatePad</a:t>
            </a:r>
            <a:r>
              <a:rPr lang="en-US" altLang="zh-CN" sz="1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 X 2025?</a:t>
            </a:r>
          </a:p>
          <a:p>
            <a:pPr marL="180000">
              <a:lnSpc>
                <a:spcPct val="150000"/>
              </a:lnSpc>
            </a:pP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Both deliver excellent visuals and eye comfort—the main difference lies in the viewing experience. </a:t>
            </a:r>
          </a:p>
          <a:p>
            <a:pPr marL="180000">
              <a:lnSpc>
                <a:spcPct val="150000"/>
              </a:lnSpc>
            </a:pP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standard display offers vivid colors and crisp detail, perfect for watching movies or scrolling </a:t>
            </a:r>
            <a:r>
              <a:rPr lang="en-US" altLang="zh-CN" sz="1100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TikTok</a:t>
            </a: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The </a:t>
            </a:r>
            <a:r>
              <a:rPr lang="en-US" altLang="zh-CN" sz="1100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PaperMatte</a:t>
            </a: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display reduces glare, staying clear even under strong light, and with its paper-like texture, it gives you a natural, pen-on-paper feel when writing or drawing.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zh-CN" sz="800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How should I choose between </a:t>
            </a:r>
            <a:r>
              <a:rPr lang="en-US" altLang="zh-CN" sz="1100" b="1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MatePad</a:t>
            </a:r>
            <a:r>
              <a:rPr lang="en-US" altLang="zh-CN" sz="1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 X and </a:t>
            </a:r>
            <a:r>
              <a:rPr lang="en-US" altLang="zh-CN" sz="1100" b="1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MatePad</a:t>
            </a:r>
            <a:r>
              <a:rPr lang="en-US" altLang="zh-CN" sz="1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Pro 12.2?</a:t>
            </a:r>
          </a:p>
          <a:p>
            <a:pPr marL="180000">
              <a:lnSpc>
                <a:spcPct val="150000"/>
              </a:lnSpc>
            </a:pP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Both are highly praised, but they target different needs. The 12 X is a “light flagship,” while the Pro is the top flagship. </a:t>
            </a:r>
          </a:p>
          <a:p>
            <a:pPr marL="180000">
              <a:lnSpc>
                <a:spcPct val="150000"/>
              </a:lnSpc>
            </a:pP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</a:t>
            </a:r>
            <a:r>
              <a:rPr lang="en-US" altLang="zh-CN" sz="1100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MatePad</a:t>
            </a: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Pro 12.2 delivers the best performance, with a Tandem OLED display that reduces glare and protects your eyes—ideal for business, office use, or professional creation. </a:t>
            </a:r>
          </a:p>
          <a:p>
            <a:pPr marL="180000">
              <a:lnSpc>
                <a:spcPct val="150000"/>
              </a:lnSpc>
            </a:pP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</a:t>
            </a:r>
            <a:r>
              <a:rPr lang="en-US" altLang="zh-CN" sz="1100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MatePad</a:t>
            </a: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 X also has flagship-level powerful performance, flagship-level long battery life, and the ultra-clear </a:t>
            </a:r>
            <a:r>
              <a:rPr lang="en-US" altLang="zh-CN" sz="1100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PaperMatte</a:t>
            </a: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Display that’s sharp yet eye-friendly, plus trendy color options. If your focus is light office work or study, the 12 X is the better choice.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endParaRPr lang="en-US" altLang="zh-CN" sz="800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What’s the difference between </a:t>
            </a:r>
            <a:r>
              <a:rPr lang="en-US" altLang="zh-CN" sz="1100" b="1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MatePad</a:t>
            </a:r>
            <a:r>
              <a:rPr lang="en-US" altLang="zh-CN" sz="1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 X and </a:t>
            </a:r>
            <a:r>
              <a:rPr lang="en-US" altLang="zh-CN" sz="1100" b="1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MatePad</a:t>
            </a:r>
            <a:r>
              <a:rPr lang="en-US" altLang="zh-CN" sz="11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11.5 S?</a:t>
            </a:r>
          </a:p>
          <a:p>
            <a:pPr marL="180000">
              <a:lnSpc>
                <a:spcPct val="150000"/>
              </a:lnSpc>
            </a:pP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</a:t>
            </a:r>
            <a:r>
              <a:rPr lang="en-US" altLang="zh-CN" sz="1100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MatePad</a:t>
            </a: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12 X is a light flagship, offering flagship-level performance, a 12-inch high-brightness high-refresh display, and a 10,100 </a:t>
            </a:r>
            <a:r>
              <a:rPr lang="en-US" altLang="zh-CN" sz="1100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mAh</a:t>
            </a: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large battery. If you prefer a bigger screen, stronger performance, and longer endurance, the 12 X is recommended.</a:t>
            </a:r>
          </a:p>
          <a:p>
            <a:pPr marL="180000">
              <a:lnSpc>
                <a:spcPct val="150000"/>
              </a:lnSpc>
            </a:pP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</a:t>
            </a:r>
            <a:r>
              <a:rPr lang="en-US" altLang="zh-CN" sz="1100" dirty="0" err="1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MatePad</a:t>
            </a:r>
            <a:r>
              <a:rPr lang="en-US" altLang="zh-CN" sz="1100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11.5 S is compact yet well-equipped to handle everyday study and entertainment. If you prefer a smaller, lighter device and don’t need as much performance power, the 11.5 S is also a great choice.</a:t>
            </a:r>
            <a:endParaRPr lang="en-US" altLang="zh-CN" sz="1050" dirty="0">
              <a:solidFill>
                <a:srgbClr val="1111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pole tekstowe 5">
            <a:extLst>
              <a:ext uri="{FF2B5EF4-FFF2-40B4-BE49-F238E27FC236}">
                <a16:creationId xmlns:a16="http://schemas.microsoft.com/office/drawing/2014/main" id="{42637472-F9B1-4CC7-80A8-1DC1F1CB0CE8}"/>
              </a:ext>
            </a:extLst>
          </p:cNvPr>
          <p:cNvSpPr txBox="1"/>
          <p:nvPr/>
        </p:nvSpPr>
        <p:spPr>
          <a:xfrm>
            <a:off x="860413" y="-84931"/>
            <a:ext cx="59975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uawei Sans" panose="020C0503030203020204" pitchFamily="34" charset="0"/>
              </a:rPr>
              <a:t>RESPOND</a:t>
            </a:r>
            <a:endParaRPr lang="pl-PL" sz="8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16" name="pole tekstowe 1">
            <a:extLst>
              <a:ext uri="{FF2B5EF4-FFF2-40B4-BE49-F238E27FC236}">
                <a16:creationId xmlns:a16="http://schemas.microsoft.com/office/drawing/2014/main" id="{F0644A11-A13D-41F4-87BD-BB7872A64F71}"/>
              </a:ext>
            </a:extLst>
          </p:cNvPr>
          <p:cNvSpPr txBox="1"/>
          <p:nvPr/>
        </p:nvSpPr>
        <p:spPr>
          <a:xfrm>
            <a:off x="1730208" y="607176"/>
            <a:ext cx="3709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latin typeface="微软雅黑" panose="020B0503020204020204" pitchFamily="34" charset="-122"/>
                <a:ea typeface="微软雅黑" panose="020B0503020204020204" pitchFamily="34" charset="-122"/>
                <a:cs typeface="Huawei Sans" panose="020C0503030203020204" pitchFamily="34" charset="0"/>
                <a:sym typeface="Huawei Sans" panose="020C0503030203020204" pitchFamily="34" charset="0"/>
              </a:rPr>
              <a:t>IN-STORE TRAINING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60C22B0-878C-44CC-9355-C49B43C2A3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4" y="-28320"/>
            <a:ext cx="1409988" cy="140998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CBFAC3C-F9A9-4956-8DC6-7941F99D64AA}"/>
              </a:ext>
            </a:extLst>
          </p:cNvPr>
          <p:cNvSpPr/>
          <p:nvPr/>
        </p:nvSpPr>
        <p:spPr>
          <a:xfrm>
            <a:off x="1730208" y="188795"/>
            <a:ext cx="47214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t"/>
            <a:r>
              <a:rPr lang="en-GB" altLang="zh-CN" sz="2000" b="1" dirty="0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HUAWEI </a:t>
            </a:r>
            <a:r>
              <a:rPr lang="en-GB" altLang="zh-CN" sz="2000" b="1" dirty="0" err="1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MatePad</a:t>
            </a:r>
            <a:r>
              <a:rPr lang="en-GB" altLang="zh-CN" sz="2000" b="1" dirty="0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 12 X </a:t>
            </a:r>
          </a:p>
        </p:txBody>
      </p:sp>
    </p:spTree>
    <p:extLst>
      <p:ext uri="{BB962C8B-B14F-4D97-AF65-F5344CB8AC3E}">
        <p14:creationId xmlns:p14="http://schemas.microsoft.com/office/powerpoint/2010/main" val="1043922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0F1A4F1E-62C5-43CA-ADE8-DA8D802AAF78}"/>
              </a:ext>
            </a:extLst>
          </p:cNvPr>
          <p:cNvGrpSpPr/>
          <p:nvPr/>
        </p:nvGrpSpPr>
        <p:grpSpPr>
          <a:xfrm>
            <a:off x="58473" y="1253049"/>
            <a:ext cx="6565232" cy="8412171"/>
            <a:chOff x="689" y="3730"/>
            <a:chExt cx="13957" cy="17299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B8FC65BB-C8A1-4131-982F-2A6A1898B68E}"/>
                </a:ext>
              </a:extLst>
            </p:cNvPr>
            <p:cNvGrpSpPr/>
            <p:nvPr/>
          </p:nvGrpSpPr>
          <p:grpSpPr>
            <a:xfrm>
              <a:off x="689" y="4168"/>
              <a:ext cx="13957" cy="16861"/>
              <a:chOff x="13588" y="4217"/>
              <a:chExt cx="7461" cy="25075"/>
            </a:xfrm>
          </p:grpSpPr>
          <p:sp>
            <p:nvSpPr>
              <p:cNvPr id="41" name="矩形: 圆角 43">
                <a:extLst>
                  <a:ext uri="{FF2B5EF4-FFF2-40B4-BE49-F238E27FC236}">
                    <a16:creationId xmlns:a16="http://schemas.microsoft.com/office/drawing/2014/main" id="{05A363A8-9BA9-40A2-9EEC-1949342DCEC9}"/>
                  </a:ext>
                </a:extLst>
              </p:cNvPr>
              <p:cNvSpPr/>
              <p:nvPr/>
            </p:nvSpPr>
            <p:spPr>
              <a:xfrm>
                <a:off x="13588" y="4317"/>
                <a:ext cx="7461" cy="24975"/>
              </a:xfrm>
              <a:prstGeom prst="roundRect">
                <a:avLst>
                  <a:gd name="adj" fmla="val 1395"/>
                </a:avLst>
              </a:prstGeom>
              <a:solidFill>
                <a:srgbClr val="BCD4B3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381000" dist="127000" dir="5400000" algn="t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pPr algn="ctr" defTabSz="874679">
                  <a:defRPr/>
                </a:pPr>
                <a:endParaRPr lang="zh-CN" altLang="en-US" sz="1340" kern="0" dirty="0">
                  <a:solidFill>
                    <a:prstClr val="white"/>
                  </a:solidFill>
                  <a:latin typeface="OPPOSans M"/>
                  <a:ea typeface="OPPOSans M"/>
                </a:endParaRPr>
              </a:p>
            </p:txBody>
          </p:sp>
          <p:sp>
            <p:nvSpPr>
              <p:cNvPr id="42" name="矩形: 圆角 44">
                <a:extLst>
                  <a:ext uri="{FF2B5EF4-FFF2-40B4-BE49-F238E27FC236}">
                    <a16:creationId xmlns:a16="http://schemas.microsoft.com/office/drawing/2014/main" id="{01C1C115-7A9D-486A-A1E2-723F1BC8C61F}"/>
                  </a:ext>
                </a:extLst>
              </p:cNvPr>
              <p:cNvSpPr/>
              <p:nvPr/>
            </p:nvSpPr>
            <p:spPr>
              <a:xfrm>
                <a:off x="13700" y="4217"/>
                <a:ext cx="7292" cy="24707"/>
              </a:xfrm>
              <a:prstGeom prst="roundRect">
                <a:avLst>
                  <a:gd name="adj" fmla="val 918"/>
                </a:avLst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13500000" algn="br" rotWithShape="0">
                  <a:prstClr val="black">
                    <a:alpha val="13000"/>
                  </a:prstClr>
                </a:outerShdw>
              </a:effectLst>
            </p:spPr>
            <p:txBody>
              <a:bodyPr rtlCol="0" anchor="ctr"/>
              <a:lstStyle/>
              <a:p>
                <a:pPr>
                  <a:lnSpc>
                    <a:spcPct val="150000"/>
                  </a:lnSpc>
                </a:pPr>
                <a:endParaRPr lang="en-US" altLang="zh-CN" sz="1722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40" name="圆角矩形 7">
              <a:extLst>
                <a:ext uri="{FF2B5EF4-FFF2-40B4-BE49-F238E27FC236}">
                  <a16:creationId xmlns:a16="http://schemas.microsoft.com/office/drawing/2014/main" id="{4B1346E4-7E92-41AA-9FB7-385665F71DB6}"/>
                </a:ext>
              </a:extLst>
            </p:cNvPr>
            <p:cNvSpPr/>
            <p:nvPr/>
          </p:nvSpPr>
          <p:spPr>
            <a:xfrm>
              <a:off x="4144" y="3730"/>
              <a:ext cx="6884" cy="727"/>
            </a:xfrm>
            <a:prstGeom prst="roundRect">
              <a:avLst/>
            </a:prstGeom>
            <a:solidFill>
              <a:srgbClr val="BCD4B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altLang="zh-CN" sz="1600" b="1" dirty="0">
                  <a:solidFill>
                    <a:srgbClr val="5371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Key </a:t>
              </a:r>
              <a:r>
                <a:rPr lang="en-US" altLang="zh-CN" sz="1600" b="1" dirty="0">
                  <a:solidFill>
                    <a:srgbClr val="53714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Demo</a:t>
              </a:r>
              <a:endParaRPr lang="en-GB" altLang="zh-CN" sz="1600" b="1" dirty="0">
                <a:solidFill>
                  <a:srgbClr val="53714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B8B70FEC-7554-4834-B393-EF599E6CED69}"/>
              </a:ext>
            </a:extLst>
          </p:cNvPr>
          <p:cNvSpPr/>
          <p:nvPr/>
        </p:nvSpPr>
        <p:spPr>
          <a:xfrm>
            <a:off x="58473" y="9668743"/>
            <a:ext cx="6658763" cy="2187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00" b="0" i="1" u="none" strike="noStrike" kern="1200" cap="none" spc="0" normalizeH="0" baseline="0" noProof="0" dirty="0">
                <a:ln>
                  <a:noFill/>
                </a:ln>
                <a:solidFill>
                  <a:srgbClr val="E7E6E6">
                    <a:lumMod val="9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This Material is for Internal Use Only and should not be used for Media Presentations or, Consumer Training without prior written consent </a:t>
            </a:r>
            <a:endParaRPr kumimoji="0" lang="zh-CN" altLang="en-US" sz="700" b="0" i="0" u="none" strike="noStrike" kern="1200" cap="none" spc="0" normalizeH="0" baseline="0" noProof="0" dirty="0">
              <a:ln>
                <a:noFill/>
              </a:ln>
              <a:solidFill>
                <a:srgbClr val="E7E6E6">
                  <a:lumMod val="9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FA402154-59BC-4871-897A-F1BE78C5DB0C}"/>
              </a:ext>
            </a:extLst>
          </p:cNvPr>
          <p:cNvSpPr txBox="1"/>
          <p:nvPr/>
        </p:nvSpPr>
        <p:spPr>
          <a:xfrm>
            <a:off x="450935" y="1789052"/>
            <a:ext cx="2714846" cy="31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1: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Pearlescent Sheen design</a:t>
            </a:r>
          </a:p>
        </p:txBody>
      </p:sp>
      <p:sp>
        <p:nvSpPr>
          <p:cNvPr id="15" name="圆角矩形 21">
            <a:extLst>
              <a:ext uri="{FF2B5EF4-FFF2-40B4-BE49-F238E27FC236}">
                <a16:creationId xmlns:a16="http://schemas.microsoft.com/office/drawing/2014/main" id="{763966E0-3602-4A89-9D41-1197642697E6}"/>
              </a:ext>
            </a:extLst>
          </p:cNvPr>
          <p:cNvSpPr/>
          <p:nvPr/>
        </p:nvSpPr>
        <p:spPr>
          <a:xfrm>
            <a:off x="297585" y="1746691"/>
            <a:ext cx="3031289" cy="3712445"/>
          </a:xfrm>
          <a:prstGeom prst="roundRect">
            <a:avLst>
              <a:gd name="adj" fmla="val 7778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4DEEC7C-C894-4AD3-B5F7-D705039F2DFD}"/>
              </a:ext>
            </a:extLst>
          </p:cNvPr>
          <p:cNvSpPr/>
          <p:nvPr/>
        </p:nvSpPr>
        <p:spPr>
          <a:xfrm>
            <a:off x="292714" y="2242541"/>
            <a:ext cx="3031288" cy="75764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74072">
              <a:lnSpc>
                <a:spcPct val="150000"/>
              </a:lnSpc>
              <a:defRPr/>
            </a:pP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Shine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Invite the customer to look at the glitter on back of the tablet when you shine a flashlight on it.</a:t>
            </a:r>
          </a:p>
        </p:txBody>
      </p:sp>
      <p:sp>
        <p:nvSpPr>
          <p:cNvPr id="20" name="文本框 4">
            <a:extLst>
              <a:ext uri="{FF2B5EF4-FFF2-40B4-BE49-F238E27FC236}">
                <a16:creationId xmlns:a16="http://schemas.microsoft.com/office/drawing/2014/main" id="{04F8A52F-53A8-4498-9C32-957A95F8E388}"/>
              </a:ext>
            </a:extLst>
          </p:cNvPr>
          <p:cNvSpPr txBox="1"/>
          <p:nvPr/>
        </p:nvSpPr>
        <p:spPr>
          <a:xfrm>
            <a:off x="3459691" y="1789051"/>
            <a:ext cx="3043946" cy="31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2: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Ultra-clear 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PaperMatte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Display </a:t>
            </a:r>
          </a:p>
        </p:txBody>
      </p:sp>
      <p:sp>
        <p:nvSpPr>
          <p:cNvPr id="21" name="圆角矩形 21">
            <a:extLst>
              <a:ext uri="{FF2B5EF4-FFF2-40B4-BE49-F238E27FC236}">
                <a16:creationId xmlns:a16="http://schemas.microsoft.com/office/drawing/2014/main" id="{D2CF0207-19E5-4D9C-BDF0-938E814C4085}"/>
              </a:ext>
            </a:extLst>
          </p:cNvPr>
          <p:cNvSpPr/>
          <p:nvPr/>
        </p:nvSpPr>
        <p:spPr>
          <a:xfrm>
            <a:off x="3449001" y="1746690"/>
            <a:ext cx="3002625" cy="3712445"/>
          </a:xfrm>
          <a:prstGeom prst="roundRect">
            <a:avLst>
              <a:gd name="adj" fmla="val 7778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7A1BA54-D7D2-41F3-969F-C352A7C6DACE}"/>
              </a:ext>
            </a:extLst>
          </p:cNvPr>
          <p:cNvSpPr/>
          <p:nvPr/>
        </p:nvSpPr>
        <p:spPr>
          <a:xfrm>
            <a:off x="3475810" y="2297863"/>
            <a:ext cx="2981097" cy="121930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874072">
              <a:lnSpc>
                <a:spcPct val="150000"/>
              </a:lnSpc>
              <a:defRPr/>
            </a:pP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Shine: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Shine a light on the screen to show the anti-glare effect</a:t>
            </a:r>
          </a:p>
          <a:p>
            <a:pPr algn="just" defTabSz="874072">
              <a:lnSpc>
                <a:spcPct val="150000"/>
              </a:lnSpc>
              <a:defRPr/>
            </a:pP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Watch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: Watch the HD video</a:t>
            </a:r>
          </a:p>
          <a:p>
            <a:pPr algn="just" defTabSz="874072">
              <a:lnSpc>
                <a:spcPct val="150000"/>
              </a:lnSpc>
              <a:defRPr/>
            </a:pP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Compare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sym typeface="Microsoft YaHei" panose="020B0503020204020204" pitchFamily="34" charset="-122"/>
              </a:rPr>
              <a:t>: Compare the anti-sparkle effect in the retail demo</a:t>
            </a:r>
          </a:p>
        </p:txBody>
      </p:sp>
      <p:sp>
        <p:nvSpPr>
          <p:cNvPr id="23" name="文本框 4">
            <a:extLst>
              <a:ext uri="{FF2B5EF4-FFF2-40B4-BE49-F238E27FC236}">
                <a16:creationId xmlns:a16="http://schemas.microsoft.com/office/drawing/2014/main" id="{FCF648E1-6EEA-450E-8E61-A3E6FF13BB72}"/>
              </a:ext>
            </a:extLst>
          </p:cNvPr>
          <p:cNvSpPr txBox="1"/>
          <p:nvPr/>
        </p:nvSpPr>
        <p:spPr>
          <a:xfrm>
            <a:off x="450935" y="5820874"/>
            <a:ext cx="2713525" cy="31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3: M-Pencil Pro </a:t>
            </a:r>
          </a:p>
        </p:txBody>
      </p:sp>
      <p:sp>
        <p:nvSpPr>
          <p:cNvPr id="24" name="圆角矩形 21">
            <a:extLst>
              <a:ext uri="{FF2B5EF4-FFF2-40B4-BE49-F238E27FC236}">
                <a16:creationId xmlns:a16="http://schemas.microsoft.com/office/drawing/2014/main" id="{086EA93A-F61F-44ED-B069-02C2E496BA26}"/>
              </a:ext>
            </a:extLst>
          </p:cNvPr>
          <p:cNvSpPr/>
          <p:nvPr/>
        </p:nvSpPr>
        <p:spPr>
          <a:xfrm>
            <a:off x="297585" y="5778514"/>
            <a:ext cx="3026417" cy="3505118"/>
          </a:xfrm>
          <a:prstGeom prst="roundRect">
            <a:avLst>
              <a:gd name="adj" fmla="val 7778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0FBDF6-A4F9-44C9-82D8-EA9C77806BAB}"/>
              </a:ext>
            </a:extLst>
          </p:cNvPr>
          <p:cNvSpPr/>
          <p:nvPr/>
        </p:nvSpPr>
        <p:spPr>
          <a:xfrm>
            <a:off x="391552" y="6296784"/>
            <a:ext cx="2772908" cy="121930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74072">
              <a:lnSpc>
                <a:spcPct val="150000"/>
              </a:lnSpc>
              <a:defRPr/>
            </a:pP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Pinch: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Open </a:t>
            </a:r>
            <a:r>
              <a:rPr lang="en-US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GoPaint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and pinch the stylus between your thumb and finger</a:t>
            </a:r>
          </a:p>
          <a:p>
            <a:pPr defTabSz="874072">
              <a:lnSpc>
                <a:spcPct val="150000"/>
              </a:lnSpc>
              <a:defRPr/>
            </a:pP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Draw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Click Marker brush to draw in </a:t>
            </a:r>
            <a:r>
              <a:rPr lang="en-US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GoPaint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874072">
              <a:lnSpc>
                <a:spcPct val="150000"/>
              </a:lnSpc>
              <a:defRPr/>
            </a:pP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Tap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Tap the pen tail button</a:t>
            </a:r>
          </a:p>
        </p:txBody>
      </p:sp>
      <p:sp>
        <p:nvSpPr>
          <p:cNvPr id="34" name="pole tekstowe 5">
            <a:extLst>
              <a:ext uri="{FF2B5EF4-FFF2-40B4-BE49-F238E27FC236}">
                <a16:creationId xmlns:a16="http://schemas.microsoft.com/office/drawing/2014/main" id="{3281CABA-BF26-45C2-AC43-F0C7A6F5D015}"/>
              </a:ext>
            </a:extLst>
          </p:cNvPr>
          <p:cNvSpPr txBox="1"/>
          <p:nvPr/>
        </p:nvSpPr>
        <p:spPr>
          <a:xfrm>
            <a:off x="860413" y="-84931"/>
            <a:ext cx="599758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uawei Sans" panose="020C0503030203020204" pitchFamily="34" charset="0"/>
              </a:rPr>
              <a:t>SHOW</a:t>
            </a:r>
            <a:endParaRPr lang="pl-PL" sz="88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uawei Sans" panose="020C0503030203020204" pitchFamily="34" charset="0"/>
            </a:endParaRPr>
          </a:p>
        </p:txBody>
      </p:sp>
      <p:sp>
        <p:nvSpPr>
          <p:cNvPr id="36" name="pole tekstowe 1">
            <a:extLst>
              <a:ext uri="{FF2B5EF4-FFF2-40B4-BE49-F238E27FC236}">
                <a16:creationId xmlns:a16="http://schemas.microsoft.com/office/drawing/2014/main" id="{8CE6511B-94E3-4EBD-8FCB-ABFD62EAAB3C}"/>
              </a:ext>
            </a:extLst>
          </p:cNvPr>
          <p:cNvSpPr txBox="1"/>
          <p:nvPr/>
        </p:nvSpPr>
        <p:spPr>
          <a:xfrm>
            <a:off x="1730208" y="607176"/>
            <a:ext cx="3709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>
                <a:latin typeface="微软雅黑" panose="020B0503020204020204" pitchFamily="34" charset="-122"/>
                <a:ea typeface="微软雅黑" panose="020B0503020204020204" pitchFamily="34" charset="-122"/>
                <a:cs typeface="Huawei Sans" panose="020C0503030203020204" pitchFamily="34" charset="0"/>
                <a:sym typeface="Huawei Sans" panose="020C0503030203020204" pitchFamily="34" charset="0"/>
              </a:rPr>
              <a:t>IN-STORE TRAINING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D5D5DBC8-623D-4F6F-B14A-70D408149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24" y="-28320"/>
            <a:ext cx="1409988" cy="1409988"/>
          </a:xfrm>
          <a:prstGeom prst="rect">
            <a:avLst/>
          </a:prstGeom>
        </p:spPr>
      </p:pic>
      <p:sp>
        <p:nvSpPr>
          <p:cNvPr id="44" name="矩形 43">
            <a:extLst>
              <a:ext uri="{FF2B5EF4-FFF2-40B4-BE49-F238E27FC236}">
                <a16:creationId xmlns:a16="http://schemas.microsoft.com/office/drawing/2014/main" id="{77524B04-3DB3-4DA2-B32C-676C72551B6F}"/>
              </a:ext>
            </a:extLst>
          </p:cNvPr>
          <p:cNvSpPr/>
          <p:nvPr/>
        </p:nvSpPr>
        <p:spPr>
          <a:xfrm>
            <a:off x="1730208" y="188795"/>
            <a:ext cx="47214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t"/>
            <a:r>
              <a:rPr lang="en-GB" altLang="zh-CN" sz="2000" b="1" dirty="0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HUAWEI </a:t>
            </a:r>
            <a:r>
              <a:rPr lang="en-GB" altLang="zh-CN" sz="2000" b="1" dirty="0" err="1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MatePad</a:t>
            </a:r>
            <a:r>
              <a:rPr lang="en-GB" altLang="zh-CN" sz="2000" b="1" dirty="0">
                <a:gradFill>
                  <a:gsLst>
                    <a:gs pos="0">
                      <a:srgbClr val="BCD4B3"/>
                    </a:gs>
                    <a:gs pos="100000">
                      <a:srgbClr val="94B19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微软雅黑" panose="020B0702040204020203" pitchFamily="34" charset="-122"/>
                <a:ea typeface="微软雅黑" panose="020B0702040204020203" pitchFamily="34" charset="-122"/>
              </a:rPr>
              <a:t> 12 X 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03C7DD2-CC34-4719-8BBF-64E96B02F633}"/>
              </a:ext>
            </a:extLst>
          </p:cNvPr>
          <p:cNvGrpSpPr/>
          <p:nvPr/>
        </p:nvGrpSpPr>
        <p:grpSpPr>
          <a:xfrm>
            <a:off x="3712441" y="3746977"/>
            <a:ext cx="2475745" cy="1364679"/>
            <a:chOff x="4037489" y="3366487"/>
            <a:chExt cx="2263886" cy="1247898"/>
          </a:xfrm>
        </p:grpSpPr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EDFE8525-D654-4E96-878C-E5CE28AB31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129" r="9912"/>
            <a:stretch/>
          </p:blipFill>
          <p:spPr>
            <a:xfrm>
              <a:off x="4037489" y="3366487"/>
              <a:ext cx="2263885" cy="1244883"/>
            </a:xfrm>
            <a:prstGeom prst="rect">
              <a:avLst/>
            </a:prstGeom>
          </p:spPr>
        </p:pic>
        <p:pic>
          <p:nvPicPr>
            <p:cNvPr id="45" name="图片 44">
              <a:extLst>
                <a:ext uri="{FF2B5EF4-FFF2-40B4-BE49-F238E27FC236}">
                  <a16:creationId xmlns:a16="http://schemas.microsoft.com/office/drawing/2014/main" id="{4D7136D5-DE3C-43D3-A3F5-257718B27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37490" y="4425220"/>
              <a:ext cx="1275271" cy="189165"/>
            </a:xfrm>
            <a:prstGeom prst="rect">
              <a:avLst/>
            </a:prstGeom>
          </p:spPr>
        </p:pic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1EE0B8E5-47F7-4CBC-A12B-4E0FD6171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99354" y="4426623"/>
              <a:ext cx="1002021" cy="175653"/>
            </a:xfrm>
            <a:prstGeom prst="rect">
              <a:avLst/>
            </a:prstGeom>
          </p:spPr>
        </p:pic>
      </p:grpSp>
      <p:sp>
        <p:nvSpPr>
          <p:cNvPr id="49" name="文本框 4">
            <a:extLst>
              <a:ext uri="{FF2B5EF4-FFF2-40B4-BE49-F238E27FC236}">
                <a16:creationId xmlns:a16="http://schemas.microsoft.com/office/drawing/2014/main" id="{1E9768A5-EEAF-4B48-A2C3-8BAFFB082829}"/>
              </a:ext>
            </a:extLst>
          </p:cNvPr>
          <p:cNvSpPr txBox="1"/>
          <p:nvPr/>
        </p:nvSpPr>
        <p:spPr>
          <a:xfrm>
            <a:off x="3606511" y="5820874"/>
            <a:ext cx="2713525" cy="31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Demo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4: PC-level Productivity </a:t>
            </a:r>
          </a:p>
        </p:txBody>
      </p:sp>
      <p:sp>
        <p:nvSpPr>
          <p:cNvPr id="50" name="圆角矩形 21">
            <a:extLst>
              <a:ext uri="{FF2B5EF4-FFF2-40B4-BE49-F238E27FC236}">
                <a16:creationId xmlns:a16="http://schemas.microsoft.com/office/drawing/2014/main" id="{F9C32946-DCD1-458E-920E-D9CB391E292E}"/>
              </a:ext>
            </a:extLst>
          </p:cNvPr>
          <p:cNvSpPr/>
          <p:nvPr/>
        </p:nvSpPr>
        <p:spPr>
          <a:xfrm>
            <a:off x="3453161" y="5778514"/>
            <a:ext cx="3026417" cy="3505118"/>
          </a:xfrm>
          <a:prstGeom prst="roundRect">
            <a:avLst>
              <a:gd name="adj" fmla="val 7778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endParaRPr lang="zh-CN" altLang="en-US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7A21FA1-F84D-4CDE-B08E-87347C226F04}"/>
              </a:ext>
            </a:extLst>
          </p:cNvPr>
          <p:cNvSpPr/>
          <p:nvPr/>
        </p:nvSpPr>
        <p:spPr>
          <a:xfrm>
            <a:off x="3547128" y="6296784"/>
            <a:ext cx="2904498" cy="121930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74072">
              <a:lnSpc>
                <a:spcPct val="150000"/>
              </a:lnSpc>
              <a:defRPr/>
            </a:pP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Weigh: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Weigh the tablet and keyboard</a:t>
            </a:r>
          </a:p>
          <a:p>
            <a:pPr defTabSz="874072">
              <a:lnSpc>
                <a:spcPct val="150000"/>
              </a:lnSpc>
              <a:defRPr/>
            </a:pP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Insert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Open PC-level WPS and insert a table of contents in a document</a:t>
            </a:r>
          </a:p>
          <a:p>
            <a:pPr defTabSz="874072">
              <a:lnSpc>
                <a:spcPct val="150000"/>
              </a:lnSpc>
              <a:defRPr/>
            </a:pP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Set: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 complex animations in a PowerPoint</a:t>
            </a:r>
          </a:p>
          <a:p>
            <a:pPr defTabSz="874072">
              <a:lnSpc>
                <a:spcPct val="150000"/>
              </a:lnSpc>
              <a:defRPr/>
            </a:pPr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Create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Create a Pivot Table in </a:t>
            </a:r>
            <a:r>
              <a:rPr lang="en-US" altLang="zh-CN" sz="1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SpreadSheet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14B2AA22-EEA5-4F99-9E1E-9D934FE9E058}"/>
              </a:ext>
            </a:extLst>
          </p:cNvPr>
          <p:cNvGrpSpPr/>
          <p:nvPr/>
        </p:nvGrpSpPr>
        <p:grpSpPr>
          <a:xfrm>
            <a:off x="3876882" y="7256991"/>
            <a:ext cx="2460345" cy="2131062"/>
            <a:chOff x="4537203" y="6805690"/>
            <a:chExt cx="1790790" cy="1551117"/>
          </a:xfrm>
        </p:grpSpPr>
        <p:pic>
          <p:nvPicPr>
            <p:cNvPr id="54" name="图片 53">
              <a:extLst>
                <a:ext uri="{FF2B5EF4-FFF2-40B4-BE49-F238E27FC236}">
                  <a16:creationId xmlns:a16="http://schemas.microsoft.com/office/drawing/2014/main" id="{75A17CE3-E893-4FA1-A6F4-EB7F853BB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7203" y="6805690"/>
              <a:ext cx="1551117" cy="1551117"/>
            </a:xfrm>
            <a:prstGeom prst="rect">
              <a:avLst/>
            </a:prstGeom>
          </p:spPr>
        </p:pic>
        <p:pic>
          <p:nvPicPr>
            <p:cNvPr id="55" name="Picture 2" descr="White">
              <a:extLst>
                <a:ext uri="{FF2B5EF4-FFF2-40B4-BE49-F238E27FC236}">
                  <a16:creationId xmlns:a16="http://schemas.microsoft.com/office/drawing/2014/main" id="{0E41BCEF-27B7-48BE-BD0C-6BAB9B50EA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3114" y="7355424"/>
              <a:ext cx="534879" cy="679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545681B3-CC52-4908-90DB-AE6F7F5BE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48008" y="7121027"/>
              <a:ext cx="942945" cy="632052"/>
            </a:xfrm>
            <a:prstGeom prst="rect">
              <a:avLst/>
            </a:prstGeom>
          </p:spPr>
        </p:pic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0335A5E-D3B3-465E-AF79-FD9265F86E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61" y="3743986"/>
            <a:ext cx="2607737" cy="1455549"/>
          </a:xfrm>
          <a:prstGeom prst="rect">
            <a:avLst/>
          </a:prstGeom>
        </p:spPr>
      </p:pic>
      <p:pic>
        <p:nvPicPr>
          <p:cNvPr id="57" name="轻捏.png" descr="轻捏.png">
            <a:extLst>
              <a:ext uri="{FF2B5EF4-FFF2-40B4-BE49-F238E27FC236}">
                <a16:creationId xmlns:a16="http://schemas.microsoft.com/office/drawing/2014/main" id="{A8BC371E-EEF8-41A8-B559-778806214C1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8928"/>
          <a:stretch>
            <a:fillRect/>
          </a:stretch>
        </p:blipFill>
        <p:spPr>
          <a:xfrm rot="1694596">
            <a:off x="1319495" y="7882831"/>
            <a:ext cx="1767593" cy="1258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8" name="Picture 2" descr="C:\Users\z60055082\AppData\Roaming\WeLink_Desktop\appdata\IM\z60055082\ReceiveFiles\originalImgfiles\971C4B88-C7BD-4599-9315-1061D0BA8272.png">
            <a:extLst>
              <a:ext uri="{FF2B5EF4-FFF2-40B4-BE49-F238E27FC236}">
                <a16:creationId xmlns:a16="http://schemas.microsoft.com/office/drawing/2014/main" id="{D6760EF8-01C5-4AE5-86FB-6973115C7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70639">
            <a:off x="501639" y="7358908"/>
            <a:ext cx="1541662" cy="135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941409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6621</TotalTime>
  <Words>1287</Words>
  <Application>Microsoft Office PowerPoint</Application>
  <PresentationFormat>A4 纸张(210x297 毫米)</PresentationFormat>
  <Paragraphs>94</Paragraphs>
  <Slides>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Huawei Sans</vt:lpstr>
      <vt:lpstr>OPPOSans M</vt:lpstr>
      <vt:lpstr>等线</vt:lpstr>
      <vt:lpstr>Microsoft YaHei</vt:lpstr>
      <vt:lpstr>Microsoft YaHei</vt:lpstr>
      <vt:lpstr>Arial</vt:lpstr>
      <vt:lpstr>Calibri</vt:lpstr>
      <vt:lpstr>Calibri Light</vt:lpstr>
      <vt:lpstr>Motyw pakietu Office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Kamil Pilis</dc:creator>
  <cp:lastModifiedBy>zhoucan (J)</cp:lastModifiedBy>
  <cp:revision>325</cp:revision>
  <dcterms:created xsi:type="dcterms:W3CDTF">2022-11-24T13:59:14Z</dcterms:created>
  <dcterms:modified xsi:type="dcterms:W3CDTF">2025-08-26T07:33:51Z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(3)1A0o9tBztLMADKIQNJPPgaezeoB/24UWe9reDPMZEOgE7BfAQKCu9s4qnN83ru8uWctdMhDB
tLVmISy1aKdnsPZnfTgr4Ecg3M8vcAqN03Y7/e/HDZ+5Fx2sEbp7nZNbQnykNCm6JiMECQeF
izvW287rX7zSRQqciba/x1Qmk4KokGY0TXyf6R8hzhcJ1JYPZNX3p0HBP2EvTmhvvnwYmgt5
dCf8KTPEXyURXO7xpG</vt:lpwstr>
  </property>
  <property fmtid="{D5CDD505-2E9C-101B-9397-08002B2CF9AE}" pid="3" name="_2015_ms_pID_7253431">
    <vt:lpwstr>SVYHDPsCL2yqlOaRHI0yGTfQW1bT4uYRnB+zJm2Rxsdjrk0l8EvFLy
8LdOBMQpnsC3bC42jsLigh0oSXItFqMu3uF7J8djK+KWyBV4Pdon3Ac8V8IyZ++K2eDWG5UU
yVZ7DQ6iyoqDLcrU3Sj8oZM/jxroca0cEEDYB8C1rbwKEHAcMKC5UDf7/pljGAFKG1CZ/WDF
DJEES4Jm96+P3yfP8Viz3uODQcVgBD6HpAk+</vt:lpwstr>
  </property>
  <property fmtid="{D5CDD505-2E9C-101B-9397-08002B2CF9AE}" pid="4" name="_2015_ms_pID_7253432">
    <vt:lpwstr>FA==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1715404160</vt:lpwstr>
  </property>
</Properties>
</file>